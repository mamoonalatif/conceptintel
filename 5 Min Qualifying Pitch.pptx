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77" r:id="rId5"/>
    <p:sldId id="278" r:id="rId6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F803F6-DE4A-450D-A8CE-347A58C27143}" v="17" dt="2026-08-23T07:53:45.01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231662_Mamoona ." userId="b7081f7e7da24230" providerId="LiveId" clId="{91F99260-498A-4FEC-A0A5-5F34A1DABEDB}"/>
    <pc:docChg chg="undo redo custSel addSld delSld modSld sldOrd modMainMaster">
      <pc:chgData name="231662_Mamoona ." userId="b7081f7e7da24230" providerId="LiveId" clId="{91F99260-498A-4FEC-A0A5-5F34A1DABEDB}" dt="2026-09-03T11:20:56.303" v="873" actId="21"/>
      <pc:docMkLst>
        <pc:docMk/>
      </pc:docMkLst>
      <pc:sldChg chg="modTransition">
        <pc:chgData name="231662_Mamoona ." userId="b7081f7e7da24230" providerId="LiveId" clId="{91F99260-498A-4FEC-A0A5-5F34A1DABEDB}" dt="2026-08-23T07:07:37.522" v="809"/>
        <pc:sldMkLst>
          <pc:docMk/>
          <pc:sldMk cId="0" sldId="256"/>
        </pc:sldMkLst>
      </pc:sldChg>
      <pc:sldChg chg="modSp mod modTransition">
        <pc:chgData name="231662_Mamoona ." userId="b7081f7e7da24230" providerId="LiveId" clId="{91F99260-498A-4FEC-A0A5-5F34A1DABEDB}" dt="2026-08-23T07:37:49.963" v="867" actId="20577"/>
        <pc:sldMkLst>
          <pc:docMk/>
          <pc:sldMk cId="0" sldId="257"/>
        </pc:sldMkLst>
        <pc:spChg chg="mod">
          <ac:chgData name="231662_Mamoona ." userId="b7081f7e7da24230" providerId="LiveId" clId="{91F99260-498A-4FEC-A0A5-5F34A1DABEDB}" dt="2026-08-23T07:08:12.009" v="813" actId="20577"/>
          <ac:spMkLst>
            <pc:docMk/>
            <pc:sldMk cId="0" sldId="257"/>
            <ac:spMk id="7" creationId="{00000000-0000-0000-0000-000000000000}"/>
          </ac:spMkLst>
        </pc:spChg>
        <pc:spChg chg="mod">
          <ac:chgData name="231662_Mamoona ." userId="b7081f7e7da24230" providerId="LiveId" clId="{91F99260-498A-4FEC-A0A5-5F34A1DABEDB}" dt="2026-08-23T07:37:49.963" v="867" actId="20577"/>
          <ac:spMkLst>
            <pc:docMk/>
            <pc:sldMk cId="0" sldId="257"/>
            <ac:spMk id="11" creationId="{00000000-0000-0000-0000-000000000000}"/>
          </ac:spMkLst>
        </pc:spChg>
        <pc:spChg chg="mod">
          <ac:chgData name="231662_Mamoona ." userId="b7081f7e7da24230" providerId="LiveId" clId="{91F99260-498A-4FEC-A0A5-5F34A1DABEDB}" dt="2026-08-23T07:22:31.853" v="844" actId="207"/>
          <ac:spMkLst>
            <pc:docMk/>
            <pc:sldMk cId="0" sldId="257"/>
            <ac:spMk id="15" creationId="{00000000-0000-0000-0000-000000000000}"/>
          </ac:spMkLst>
        </pc:spChg>
        <pc:spChg chg="mod">
          <ac:chgData name="231662_Mamoona ." userId="b7081f7e7da24230" providerId="LiveId" clId="{91F99260-498A-4FEC-A0A5-5F34A1DABEDB}" dt="2026-08-23T07:21:39.991" v="831" actId="20577"/>
          <ac:spMkLst>
            <pc:docMk/>
            <pc:sldMk cId="0" sldId="257"/>
            <ac:spMk id="26" creationId="{00000000-0000-0000-0000-000000000000}"/>
          </ac:spMkLst>
        </pc:spChg>
        <pc:spChg chg="mod">
          <ac:chgData name="231662_Mamoona ." userId="b7081f7e7da24230" providerId="LiveId" clId="{91F99260-498A-4FEC-A0A5-5F34A1DABEDB}" dt="2026-08-23T07:21:47.613" v="834" actId="20577"/>
          <ac:spMkLst>
            <pc:docMk/>
            <pc:sldMk cId="0" sldId="257"/>
            <ac:spMk id="36" creationId="{00000000-0000-0000-0000-000000000000}"/>
          </ac:spMkLst>
        </pc:spChg>
        <pc:spChg chg="mod">
          <ac:chgData name="231662_Mamoona ." userId="b7081f7e7da24230" providerId="LiveId" clId="{91F99260-498A-4FEC-A0A5-5F34A1DABEDB}" dt="2026-08-23T07:22:17.230" v="841" actId="20577"/>
          <ac:spMkLst>
            <pc:docMk/>
            <pc:sldMk cId="0" sldId="257"/>
            <ac:spMk id="41" creationId="{00000000-0000-0000-0000-000000000000}"/>
          </ac:spMkLst>
        </pc:spChg>
        <pc:grpChg chg="mod">
          <ac:chgData name="231662_Mamoona ." userId="b7081f7e7da24230" providerId="LiveId" clId="{91F99260-498A-4FEC-A0A5-5F34A1DABEDB}" dt="2026-08-23T07:21:35.809" v="817" actId="1038"/>
          <ac:grpSpMkLst>
            <pc:docMk/>
            <pc:sldMk cId="0" sldId="257"/>
            <ac:grpSpMk id="22" creationId="{00000000-0000-0000-0000-000000000000}"/>
          </ac:grpSpMkLst>
        </pc:grpChg>
      </pc:sldChg>
      <pc:sldChg chg="addSp delSp modSp mod modTransition">
        <pc:chgData name="231662_Mamoona ." userId="b7081f7e7da24230" providerId="LiveId" clId="{91F99260-498A-4FEC-A0A5-5F34A1DABEDB}" dt="2026-08-23T07:07:37.522" v="809"/>
        <pc:sldMkLst>
          <pc:docMk/>
          <pc:sldMk cId="0" sldId="258"/>
        </pc:sldMkLst>
        <pc:spChg chg="mod">
          <ac:chgData name="231662_Mamoona ." userId="b7081f7e7da24230" providerId="LiveId" clId="{91F99260-498A-4FEC-A0A5-5F34A1DABEDB}" dt="2026-08-22T20:22:44.809" v="5" actId="20577"/>
          <ac:spMkLst>
            <pc:docMk/>
            <pc:sldMk cId="0" sldId="258"/>
            <ac:spMk id="6" creationId="{00000000-0000-0000-0000-000000000000}"/>
          </ac:spMkLst>
        </pc:spChg>
        <pc:spChg chg="mod">
          <ac:chgData name="231662_Mamoona ." userId="b7081f7e7da24230" providerId="LiveId" clId="{91F99260-498A-4FEC-A0A5-5F34A1DABEDB}" dt="2026-08-22T20:24:28.821" v="182" actId="14100"/>
          <ac:spMkLst>
            <pc:docMk/>
            <pc:sldMk cId="0" sldId="258"/>
            <ac:spMk id="8" creationId="{00000000-0000-0000-0000-000000000000}"/>
          </ac:spMkLst>
        </pc:spChg>
        <pc:spChg chg="mod">
          <ac:chgData name="231662_Mamoona ." userId="b7081f7e7da24230" providerId="LiveId" clId="{91F99260-498A-4FEC-A0A5-5F34A1DABEDB}" dt="2026-08-22T20:23:17.813" v="42" actId="107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231662_Mamoona ." userId="b7081f7e7da24230" providerId="LiveId" clId="{91F99260-498A-4FEC-A0A5-5F34A1DABEDB}" dt="2026-08-22T20:33:09.154" v="560" actId="20577"/>
          <ac:spMkLst>
            <pc:docMk/>
            <pc:sldMk cId="0" sldId="258"/>
            <ac:spMk id="12" creationId="{00000000-0000-0000-0000-000000000000}"/>
          </ac:spMkLst>
        </pc:spChg>
        <pc:spChg chg="mod">
          <ac:chgData name="231662_Mamoona ." userId="b7081f7e7da24230" providerId="LiveId" clId="{91F99260-498A-4FEC-A0A5-5F34A1DABEDB}" dt="2026-08-22T20:26:22.161" v="203" actId="14100"/>
          <ac:spMkLst>
            <pc:docMk/>
            <pc:sldMk cId="0" sldId="258"/>
            <ac:spMk id="14" creationId="{00000000-0000-0000-0000-000000000000}"/>
          </ac:spMkLst>
        </pc:spChg>
        <pc:spChg chg="mod">
          <ac:chgData name="231662_Mamoona ." userId="b7081f7e7da24230" providerId="LiveId" clId="{91F99260-498A-4FEC-A0A5-5F34A1DABEDB}" dt="2026-08-22T20:26:37.960" v="205" actId="1076"/>
          <ac:spMkLst>
            <pc:docMk/>
            <pc:sldMk cId="0" sldId="258"/>
            <ac:spMk id="17" creationId="{00000000-0000-0000-0000-000000000000}"/>
          </ac:spMkLst>
        </pc:spChg>
        <pc:spChg chg="mod">
          <ac:chgData name="231662_Mamoona ." userId="b7081f7e7da24230" providerId="LiveId" clId="{91F99260-498A-4FEC-A0A5-5F34A1DABEDB}" dt="2026-08-22T20:30:40.912" v="470" actId="20577"/>
          <ac:spMkLst>
            <pc:docMk/>
            <pc:sldMk cId="0" sldId="258"/>
            <ac:spMk id="18" creationId="{00000000-0000-0000-0000-000000000000}"/>
          </ac:spMkLst>
        </pc:spChg>
        <pc:spChg chg="mod">
          <ac:chgData name="231662_Mamoona ." userId="b7081f7e7da24230" providerId="LiveId" clId="{91F99260-498A-4FEC-A0A5-5F34A1DABEDB}" dt="2026-08-22T20:24:15.890" v="180" actId="1076"/>
          <ac:spMkLst>
            <pc:docMk/>
            <pc:sldMk cId="0" sldId="258"/>
            <ac:spMk id="20" creationId="{00000000-0000-0000-0000-000000000000}"/>
          </ac:spMkLst>
        </pc:spChg>
        <pc:spChg chg="mod">
          <ac:chgData name="231662_Mamoona ." userId="b7081f7e7da24230" providerId="LiveId" clId="{91F99260-498A-4FEC-A0A5-5F34A1DABEDB}" dt="2026-08-22T20:33:33.255" v="565" actId="20577"/>
          <ac:spMkLst>
            <pc:docMk/>
            <pc:sldMk cId="0" sldId="258"/>
            <ac:spMk id="23" creationId="{00000000-0000-0000-0000-000000000000}"/>
          </ac:spMkLst>
        </pc:spChg>
        <pc:spChg chg="mod">
          <ac:chgData name="231662_Mamoona ." userId="b7081f7e7da24230" providerId="LiveId" clId="{91F99260-498A-4FEC-A0A5-5F34A1DABEDB}" dt="2026-08-22T20:27:31.032" v="217" actId="14100"/>
          <ac:spMkLst>
            <pc:docMk/>
            <pc:sldMk cId="0" sldId="258"/>
            <ac:spMk id="25" creationId="{00000000-0000-0000-0000-000000000000}"/>
          </ac:spMkLst>
        </pc:spChg>
        <pc:spChg chg="mod">
          <ac:chgData name="231662_Mamoona ." userId="b7081f7e7da24230" providerId="LiveId" clId="{91F99260-498A-4FEC-A0A5-5F34A1DABEDB}" dt="2026-08-22T20:27:48.371" v="219" actId="1076"/>
          <ac:spMkLst>
            <pc:docMk/>
            <pc:sldMk cId="0" sldId="258"/>
            <ac:spMk id="28" creationId="{00000000-0000-0000-0000-000000000000}"/>
          </ac:spMkLst>
        </pc:spChg>
        <pc:spChg chg="mod">
          <ac:chgData name="231662_Mamoona ." userId="b7081f7e7da24230" providerId="LiveId" clId="{91F99260-498A-4FEC-A0A5-5F34A1DABEDB}" dt="2026-08-22T20:30:48.730" v="471" actId="948"/>
          <ac:spMkLst>
            <pc:docMk/>
            <pc:sldMk cId="0" sldId="258"/>
            <ac:spMk id="29" creationId="{00000000-0000-0000-0000-000000000000}"/>
          </ac:spMkLst>
        </pc:spChg>
        <pc:spChg chg="mod topLvl">
          <ac:chgData name="231662_Mamoona ." userId="b7081f7e7da24230" providerId="LiveId" clId="{91F99260-498A-4FEC-A0A5-5F34A1DABEDB}" dt="2026-08-22T20:39:22.894" v="690" actId="14100"/>
          <ac:spMkLst>
            <pc:docMk/>
            <pc:sldMk cId="0" sldId="258"/>
            <ac:spMk id="31" creationId="{00000000-0000-0000-0000-000000000000}"/>
          </ac:spMkLst>
        </pc:spChg>
        <pc:spChg chg="add del mod">
          <ac:chgData name="231662_Mamoona ." userId="b7081f7e7da24230" providerId="LiveId" clId="{91F99260-498A-4FEC-A0A5-5F34A1DABEDB}" dt="2026-08-22T20:31:30.090" v="478" actId="47"/>
          <ac:spMkLst>
            <pc:docMk/>
            <pc:sldMk cId="0" sldId="258"/>
            <ac:spMk id="33" creationId="{00000000-0000-0000-0000-000000000000}"/>
          </ac:spMkLst>
        </pc:spChg>
        <pc:spChg chg="mod">
          <ac:chgData name="231662_Mamoona ." userId="b7081f7e7da24230" providerId="LiveId" clId="{91F99260-498A-4FEC-A0A5-5F34A1DABEDB}" dt="2026-08-22T20:39:07.297" v="685" actId="20577"/>
          <ac:spMkLst>
            <pc:docMk/>
            <pc:sldMk cId="0" sldId="258"/>
            <ac:spMk id="34" creationId="{00000000-0000-0000-0000-000000000000}"/>
          </ac:spMkLst>
        </pc:spChg>
        <pc:spChg chg="mod">
          <ac:chgData name="231662_Mamoona ." userId="b7081f7e7da24230" providerId="LiveId" clId="{91F99260-498A-4FEC-A0A5-5F34A1DABEDB}" dt="2026-08-22T20:26:04.299" v="200" actId="1076"/>
          <ac:spMkLst>
            <pc:docMk/>
            <pc:sldMk cId="0" sldId="258"/>
            <ac:spMk id="37" creationId="{00000000-0000-0000-0000-000000000000}"/>
          </ac:spMkLst>
        </pc:spChg>
        <pc:grpChg chg="mod">
          <ac:chgData name="231662_Mamoona ." userId="b7081f7e7da24230" providerId="LiveId" clId="{91F99260-498A-4FEC-A0A5-5F34A1DABEDB}" dt="2026-08-22T20:24:22.593" v="181" actId="14100"/>
          <ac:grpSpMkLst>
            <pc:docMk/>
            <pc:sldMk cId="0" sldId="258"/>
            <ac:grpSpMk id="7" creationId="{00000000-0000-0000-0000-000000000000}"/>
          </ac:grpSpMkLst>
        </pc:grpChg>
        <pc:grpChg chg="mod">
          <ac:chgData name="231662_Mamoona ." userId="b7081f7e7da24230" providerId="LiveId" clId="{91F99260-498A-4FEC-A0A5-5F34A1DABEDB}" dt="2026-08-22T20:36:57.097" v="611" actId="14100"/>
          <ac:grpSpMkLst>
            <pc:docMk/>
            <pc:sldMk cId="0" sldId="258"/>
            <ac:grpSpMk id="13" creationId="{00000000-0000-0000-0000-000000000000}"/>
          </ac:grpSpMkLst>
        </pc:grpChg>
        <pc:grpChg chg="add del mod">
          <ac:chgData name="231662_Mamoona ." userId="b7081f7e7da24230" providerId="LiveId" clId="{91F99260-498A-4FEC-A0A5-5F34A1DABEDB}" dt="2026-08-22T20:31:57.975" v="486" actId="478"/>
          <ac:grpSpMkLst>
            <pc:docMk/>
            <pc:sldMk cId="0" sldId="258"/>
            <ac:grpSpMk id="19" creationId="{00000000-0000-0000-0000-000000000000}"/>
          </ac:grpSpMkLst>
        </pc:grpChg>
        <pc:picChg chg="mod">
          <ac:chgData name="231662_Mamoona ." userId="b7081f7e7da24230" providerId="LiveId" clId="{91F99260-498A-4FEC-A0A5-5F34A1DABEDB}" dt="2026-08-22T20:24:35.490" v="183" actId="1076"/>
          <ac:picMkLst>
            <pc:docMk/>
            <pc:sldMk cId="0" sldId="258"/>
            <ac:picMk id="10" creationId="{00000000-0000-0000-0000-000000000000}"/>
          </ac:picMkLst>
        </pc:picChg>
        <pc:picChg chg="mod">
          <ac:chgData name="231662_Mamoona ." userId="b7081f7e7da24230" providerId="LiveId" clId="{91F99260-498A-4FEC-A0A5-5F34A1DABEDB}" dt="2026-08-22T20:26:29.302" v="204" actId="1076"/>
          <ac:picMkLst>
            <pc:docMk/>
            <pc:sldMk cId="0" sldId="258"/>
            <ac:picMk id="16" creationId="{00000000-0000-0000-0000-000000000000}"/>
          </ac:picMkLst>
        </pc:picChg>
        <pc:picChg chg="mod">
          <ac:chgData name="231662_Mamoona ." userId="b7081f7e7da24230" providerId="LiveId" clId="{91F99260-498A-4FEC-A0A5-5F34A1DABEDB}" dt="2026-08-22T20:26:00.322" v="199" actId="14100"/>
          <ac:picMkLst>
            <pc:docMk/>
            <pc:sldMk cId="0" sldId="258"/>
            <ac:picMk id="22" creationId="{00000000-0000-0000-0000-000000000000}"/>
          </ac:picMkLst>
        </pc:picChg>
        <pc:picChg chg="mod">
          <ac:chgData name="231662_Mamoona ." userId="b7081f7e7da24230" providerId="LiveId" clId="{91F99260-498A-4FEC-A0A5-5F34A1DABEDB}" dt="2026-08-22T20:27:42.290" v="218" actId="1076"/>
          <ac:picMkLst>
            <pc:docMk/>
            <pc:sldMk cId="0" sldId="258"/>
            <ac:picMk id="27" creationId="{00000000-0000-0000-0000-000000000000}"/>
          </ac:picMkLst>
        </pc:picChg>
      </pc:sldChg>
      <pc:sldChg chg="addSp delSp modSp add mod modTransition delAnim modAnim">
        <pc:chgData name="231662_Mamoona ." userId="b7081f7e7da24230" providerId="LiveId" clId="{91F99260-498A-4FEC-A0A5-5F34A1DABEDB}" dt="2026-08-23T07:53:57.115" v="872" actId="1076"/>
        <pc:sldMkLst>
          <pc:docMk/>
          <pc:sldMk cId="287740178" sldId="277"/>
        </pc:sldMkLst>
        <pc:picChg chg="add mod">
          <ac:chgData name="231662_Mamoona ." userId="b7081f7e7da24230" providerId="LiveId" clId="{91F99260-498A-4FEC-A0A5-5F34A1DABEDB}" dt="2026-08-23T07:53:57.115" v="872" actId="1076"/>
          <ac:picMkLst>
            <pc:docMk/>
            <pc:sldMk cId="287740178" sldId="277"/>
            <ac:picMk id="4" creationId="{AB233B4C-9C85-4F78-60EF-18CD75D22085}"/>
          </ac:picMkLst>
        </pc:picChg>
      </pc:sldChg>
      <pc:sldChg chg="delSp add mod delAnim">
        <pc:chgData name="231662_Mamoona ." userId="b7081f7e7da24230" providerId="LiveId" clId="{91F99260-498A-4FEC-A0A5-5F34A1DABEDB}" dt="2026-09-03T11:20:56.303" v="873" actId="21"/>
        <pc:sldMkLst>
          <pc:docMk/>
          <pc:sldMk cId="3712384440" sldId="278"/>
        </pc:sldMkLst>
        <pc:picChg chg="del">
          <ac:chgData name="231662_Mamoona ." userId="b7081f7e7da24230" providerId="LiveId" clId="{91F99260-498A-4FEC-A0A5-5F34A1DABEDB}" dt="2026-09-03T11:20:56.303" v="873" actId="21"/>
          <ac:picMkLst>
            <pc:docMk/>
            <pc:sldMk cId="3712384440" sldId="278"/>
            <ac:picMk id="2" creationId="{21423A49-8667-5577-DA97-E671726344CB}"/>
          </ac:picMkLst>
        </pc:picChg>
      </pc:sldChg>
      <pc:sldMasterChg chg="modTransition modSldLayout">
        <pc:chgData name="231662_Mamoona ." userId="b7081f7e7da24230" providerId="LiveId" clId="{91F99260-498A-4FEC-A0A5-5F34A1DABEDB}" dt="2026-08-23T07:07:37.522" v="809"/>
        <pc:sldMasterMkLst>
          <pc:docMk/>
          <pc:sldMasterMk cId="0" sldId="2147483648"/>
        </pc:sldMasterMkLst>
        <pc:sldLayoutChg chg="modTransition">
          <pc:chgData name="231662_Mamoona ." userId="b7081f7e7da24230" providerId="LiveId" clId="{91F99260-498A-4FEC-A0A5-5F34A1DABEDB}" dt="2026-08-23T07:07:37.522" v="809"/>
          <pc:sldLayoutMkLst>
            <pc:docMk/>
            <pc:sldMasterMk cId="0" sldId="2147483648"/>
            <pc:sldLayoutMk cId="0" sldId="2147483661"/>
          </pc:sldLayoutMkLst>
        </pc:sldLayoutChg>
        <pc:sldLayoutChg chg="modTransition">
          <pc:chgData name="231662_Mamoona ." userId="b7081f7e7da24230" providerId="LiveId" clId="{91F99260-498A-4FEC-A0A5-5F34A1DABEDB}" dt="2026-08-23T07:07:37.522" v="809"/>
          <pc:sldLayoutMkLst>
            <pc:docMk/>
            <pc:sldMasterMk cId="0" sldId="2147483648"/>
            <pc:sldLayoutMk cId="0" sldId="2147483662"/>
          </pc:sldLayoutMkLst>
        </pc:sldLayoutChg>
        <pc:sldLayoutChg chg="modTransition">
          <pc:chgData name="231662_Mamoona ." userId="b7081f7e7da24230" providerId="LiveId" clId="{91F99260-498A-4FEC-A0A5-5F34A1DABEDB}" dt="2026-08-23T07:07:37.522" v="809"/>
          <pc:sldLayoutMkLst>
            <pc:docMk/>
            <pc:sldMasterMk cId="0" sldId="2147483648"/>
            <pc:sldLayoutMk cId="0" sldId="2147483663"/>
          </pc:sldLayoutMkLst>
        </pc:sldLayoutChg>
        <pc:sldLayoutChg chg="modTransition">
          <pc:chgData name="231662_Mamoona ." userId="b7081f7e7da24230" providerId="LiveId" clId="{91F99260-498A-4FEC-A0A5-5F34A1DABEDB}" dt="2026-08-23T07:07:37.522" v="809"/>
          <pc:sldLayoutMkLst>
            <pc:docMk/>
            <pc:sldMasterMk cId="0" sldId="2147483648"/>
            <pc:sldLayoutMk cId="0" sldId="2147483664"/>
          </pc:sldLayoutMkLst>
        </pc:sldLayoutChg>
        <pc:sldLayoutChg chg="modTransition">
          <pc:chgData name="231662_Mamoona ." userId="b7081f7e7da24230" providerId="LiveId" clId="{91F99260-498A-4FEC-A0A5-5F34A1DABEDB}" dt="2026-08-23T07:07:37.522" v="809"/>
          <pc:sldLayoutMkLst>
            <pc:docMk/>
            <pc:sldMasterMk cId="0" sldId="2147483648"/>
            <pc:sldLayoutMk cId="0" sldId="2147483665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6B7280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6B7280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6B7280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6B7280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6B7280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635" cy="123825"/>
          </a:xfrm>
          <a:custGeom>
            <a:avLst/>
            <a:gdLst/>
            <a:ahLst/>
            <a:cxnLst/>
            <a:rect l="l" t="t" r="r" b="b"/>
            <a:pathLst>
              <a:path w="9144635" h="123825">
                <a:moveTo>
                  <a:pt x="9144014" y="123443"/>
                </a:moveTo>
                <a:lnTo>
                  <a:pt x="0" y="123443"/>
                </a:lnTo>
                <a:lnTo>
                  <a:pt x="0" y="0"/>
                </a:lnTo>
                <a:lnTo>
                  <a:pt x="9144014" y="0"/>
                </a:lnTo>
                <a:lnTo>
                  <a:pt x="9144014" y="123443"/>
                </a:lnTo>
                <a:close/>
              </a:path>
            </a:pathLst>
          </a:custGeom>
          <a:solidFill>
            <a:srgbClr val="0B1F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77200" y="4924044"/>
            <a:ext cx="8401685" cy="0"/>
          </a:xfrm>
          <a:custGeom>
            <a:avLst/>
            <a:gdLst/>
            <a:ahLst/>
            <a:cxnLst/>
            <a:rect l="l" t="t" r="r" b="b"/>
            <a:pathLst>
              <a:path w="8401685">
                <a:moveTo>
                  <a:pt x="0" y="0"/>
                </a:moveTo>
                <a:lnTo>
                  <a:pt x="8401274" y="0"/>
                </a:lnTo>
              </a:path>
            </a:pathLst>
          </a:custGeom>
          <a:ln w="9524">
            <a:solidFill>
              <a:srgbClr val="CED6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514348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8790" y="366490"/>
            <a:ext cx="7054860" cy="3302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29849" y="4985237"/>
            <a:ext cx="131445" cy="111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6B7280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ransition spd="slow">
    <p:cover/>
  </p:transition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14" cy="5170593"/>
            <a:chOff x="0" y="0"/>
            <a:chExt cx="9144014" cy="5170593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14" cy="514348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4052322"/>
              <a:ext cx="9144000" cy="1118271"/>
            </a:xfrm>
            <a:custGeom>
              <a:avLst/>
              <a:gdLst/>
              <a:ahLst/>
              <a:cxnLst/>
              <a:rect l="l" t="t" r="r" b="b"/>
              <a:pathLst>
                <a:path w="9144000" h="1495425">
                  <a:moveTo>
                    <a:pt x="9143999" y="1494899"/>
                  </a:moveTo>
                  <a:lnTo>
                    <a:pt x="0" y="14948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1494899"/>
                  </a:lnTo>
                  <a:close/>
                </a:path>
              </a:pathLst>
            </a:custGeom>
            <a:solidFill>
              <a:srgbClr val="C14ED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48649" y="1254314"/>
            <a:ext cx="4904416" cy="13059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l">
              <a:lnSpc>
                <a:spcPct val="150000"/>
              </a:lnSpc>
              <a:spcBef>
                <a:spcPts val="100"/>
              </a:spcBef>
            </a:pPr>
            <a:r>
              <a:rPr lang="en-US" sz="2600" dirty="0" err="1"/>
              <a:t>ConceptIntel</a:t>
            </a:r>
            <a:r>
              <a:rPr lang="en-US" sz="2600" dirty="0"/>
              <a:t>; </a:t>
            </a:r>
            <a:br>
              <a:rPr lang="en-US" sz="2600" dirty="0"/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 knowledge graph-based concept intelligence platform for teachers &amp; students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48649" y="386900"/>
            <a:ext cx="8224718" cy="4613697"/>
            <a:chOff x="548649" y="386900"/>
            <a:chExt cx="8224718" cy="4613697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649" y="386900"/>
              <a:ext cx="1489724" cy="7013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35865" y="4036822"/>
              <a:ext cx="1137502" cy="963775"/>
            </a:xfrm>
            <a:prstGeom prst="rect">
              <a:avLst/>
            </a:prstGeom>
          </p:spPr>
        </p:pic>
      </p:grp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  <p:sp>
        <p:nvSpPr>
          <p:cNvPr id="18" name="object 18"/>
          <p:cNvSpPr txBox="1"/>
          <p:nvPr/>
        </p:nvSpPr>
        <p:spPr>
          <a:xfrm>
            <a:off x="465661" y="4092845"/>
            <a:ext cx="5979795" cy="1093248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lang="en-US" spc="-110" dirty="0">
                <a:solidFill>
                  <a:srgbClr val="FFFFFF"/>
                </a:solidFill>
                <a:latin typeface="Arial Black"/>
                <a:cs typeface="Arial Black"/>
              </a:rPr>
              <a:t>Air University, Islamabad</a:t>
            </a:r>
            <a:endParaRPr lang="en-US" sz="1800" dirty="0">
              <a:latin typeface="Arial Black"/>
              <a:cs typeface="Arial Black"/>
            </a:endParaRPr>
          </a:p>
          <a:p>
            <a:pPr marL="12700" marR="462915">
              <a:spcBef>
                <a:spcPts val="495"/>
              </a:spcBef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Mamoona ,  Laiba , Muhammad Kashif                </a:t>
            </a:r>
          </a:p>
          <a:p>
            <a:pPr marL="12700" marR="462915">
              <a:spcBef>
                <a:spcPts val="495"/>
              </a:spcBef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Assistant Professor (Dr. Sumaira Farid)</a:t>
            </a:r>
            <a:endParaRPr lang="en-US" sz="1100" dirty="0"/>
          </a:p>
          <a:p>
            <a:pPr marL="12700" marR="462915">
              <a:lnSpc>
                <a:spcPct val="100000"/>
              </a:lnSpc>
              <a:spcBef>
                <a:spcPts val="495"/>
              </a:spcBef>
            </a:pPr>
            <a:endParaRPr lang="en-US" sz="1100" dirty="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477730" y="4924298"/>
            <a:ext cx="6794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CBD4E1"/>
                </a:solidFill>
                <a:latin typeface="Arial MT"/>
                <a:cs typeface="Arial MT"/>
              </a:rPr>
              <a:t>1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ABF3615-A537-92B0-A97B-12752C2129D2}"/>
              </a:ext>
            </a:extLst>
          </p:cNvPr>
          <p:cNvSpPr txBox="1"/>
          <p:nvPr/>
        </p:nvSpPr>
        <p:spPr>
          <a:xfrm>
            <a:off x="391367" y="2964588"/>
            <a:ext cx="838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K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AI That Finally Teaches Universities What Their Students Don't Understand</a:t>
            </a:r>
            <a:r>
              <a:rPr lang="en-US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en-PK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Concept by Concept.</a:t>
            </a:r>
            <a:br>
              <a:rPr lang="en-PK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PK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PK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"Today's platforms grade the answer. </a:t>
            </a:r>
            <a:r>
              <a:rPr lang="en-PK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ConceptIntel</a:t>
            </a:r>
            <a:r>
              <a:rPr lang="en-PK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understands the gap."</a:t>
            </a:r>
          </a:p>
        </p:txBody>
      </p:sp>
      <p:pic>
        <p:nvPicPr>
          <p:cNvPr id="28" name="Image 0" descr="C:\Users\mamoo_degcn9g\AppData\Local\Temp\claude\C--Users-mamoo-degcn9g-OneDrive-Documents-FYP-conceptintel\f051ca33-27d2-49d4-b922-df84a1f16853\scratchpad\pitch/screens/landing.png">
            <a:extLst>
              <a:ext uri="{FF2B5EF4-FFF2-40B4-BE49-F238E27FC236}">
                <a16:creationId xmlns:a16="http://schemas.microsoft.com/office/drawing/2014/main" id="{A0A6805F-F6E9-2693-94E3-EECCBAF773F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276079" y="1161764"/>
            <a:ext cx="3319272" cy="1527048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Product</a:t>
            </a:r>
            <a:r>
              <a:rPr spc="-200" dirty="0"/>
              <a:t> </a:t>
            </a:r>
            <a:r>
              <a:rPr spc="-45" dirty="0"/>
              <a:t>Snapshot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20133" y="762635"/>
            <a:ext cx="2856468" cy="1645284"/>
            <a:chOff x="420132" y="1078489"/>
            <a:chExt cx="3542665" cy="1231265"/>
          </a:xfrm>
        </p:grpSpPr>
        <p:sp>
          <p:nvSpPr>
            <p:cNvPr id="5" name="object 5"/>
            <p:cNvSpPr/>
            <p:nvPr/>
          </p:nvSpPr>
          <p:spPr>
            <a:xfrm>
              <a:off x="425207" y="1083564"/>
              <a:ext cx="3532504" cy="1221105"/>
            </a:xfrm>
            <a:custGeom>
              <a:avLst/>
              <a:gdLst/>
              <a:ahLst/>
              <a:cxnLst/>
              <a:rect l="l" t="t" r="r" b="b"/>
              <a:pathLst>
                <a:path w="3532504" h="1221105">
                  <a:moveTo>
                    <a:pt x="3477104" y="1220723"/>
                  </a:moveTo>
                  <a:lnTo>
                    <a:pt x="54859" y="1220723"/>
                  </a:lnTo>
                  <a:lnTo>
                    <a:pt x="33505" y="1216412"/>
                  </a:lnTo>
                  <a:lnTo>
                    <a:pt x="16067" y="1204656"/>
                  </a:lnTo>
                  <a:lnTo>
                    <a:pt x="4311" y="1187218"/>
                  </a:lnTo>
                  <a:lnTo>
                    <a:pt x="0" y="1165864"/>
                  </a:lnTo>
                  <a:lnTo>
                    <a:pt x="0" y="54859"/>
                  </a:lnTo>
                  <a:lnTo>
                    <a:pt x="4311" y="33505"/>
                  </a:lnTo>
                  <a:lnTo>
                    <a:pt x="16067" y="16067"/>
                  </a:lnTo>
                  <a:lnTo>
                    <a:pt x="33505" y="4311"/>
                  </a:lnTo>
                  <a:lnTo>
                    <a:pt x="54859" y="0"/>
                  </a:lnTo>
                  <a:lnTo>
                    <a:pt x="3477104" y="0"/>
                  </a:lnTo>
                  <a:lnTo>
                    <a:pt x="3515896" y="16067"/>
                  </a:lnTo>
                  <a:lnTo>
                    <a:pt x="3531964" y="54859"/>
                  </a:lnTo>
                  <a:lnTo>
                    <a:pt x="3531964" y="1165864"/>
                  </a:lnTo>
                  <a:lnTo>
                    <a:pt x="3527653" y="1187218"/>
                  </a:lnTo>
                  <a:lnTo>
                    <a:pt x="3515896" y="1204656"/>
                  </a:lnTo>
                  <a:lnTo>
                    <a:pt x="3498458" y="1216412"/>
                  </a:lnTo>
                  <a:lnTo>
                    <a:pt x="3477104" y="12207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5207" y="1083564"/>
              <a:ext cx="3532504" cy="1221105"/>
            </a:xfrm>
            <a:custGeom>
              <a:avLst/>
              <a:gdLst/>
              <a:ahLst/>
              <a:cxnLst/>
              <a:rect l="l" t="t" r="r" b="b"/>
              <a:pathLst>
                <a:path w="3532504" h="1221105">
                  <a:moveTo>
                    <a:pt x="0" y="54859"/>
                  </a:moveTo>
                  <a:lnTo>
                    <a:pt x="4311" y="33505"/>
                  </a:lnTo>
                  <a:lnTo>
                    <a:pt x="16067" y="16067"/>
                  </a:lnTo>
                  <a:lnTo>
                    <a:pt x="33505" y="4311"/>
                  </a:lnTo>
                  <a:lnTo>
                    <a:pt x="54859" y="0"/>
                  </a:lnTo>
                  <a:lnTo>
                    <a:pt x="3477104" y="0"/>
                  </a:lnTo>
                  <a:lnTo>
                    <a:pt x="3515896" y="16067"/>
                  </a:lnTo>
                  <a:lnTo>
                    <a:pt x="3531964" y="54859"/>
                  </a:lnTo>
                  <a:lnTo>
                    <a:pt x="3531964" y="1165864"/>
                  </a:lnTo>
                  <a:lnTo>
                    <a:pt x="3527653" y="1187218"/>
                  </a:lnTo>
                  <a:lnTo>
                    <a:pt x="3515896" y="1204656"/>
                  </a:lnTo>
                  <a:lnTo>
                    <a:pt x="3498458" y="1216412"/>
                  </a:lnTo>
                  <a:lnTo>
                    <a:pt x="3477104" y="1220723"/>
                  </a:lnTo>
                  <a:lnTo>
                    <a:pt x="54859" y="1220723"/>
                  </a:lnTo>
                  <a:lnTo>
                    <a:pt x="33505" y="1216412"/>
                  </a:lnTo>
                  <a:lnTo>
                    <a:pt x="16067" y="1204656"/>
                  </a:lnTo>
                  <a:lnTo>
                    <a:pt x="4311" y="1187218"/>
                  </a:lnTo>
                  <a:lnTo>
                    <a:pt x="0" y="1165864"/>
                  </a:lnTo>
                  <a:lnTo>
                    <a:pt x="0" y="54859"/>
                  </a:lnTo>
                  <a:close/>
                </a:path>
              </a:pathLst>
            </a:custGeom>
            <a:ln w="1014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34782" y="728373"/>
            <a:ext cx="2589418" cy="1585690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lang="en-US" sz="1100" spc="-35" dirty="0">
                <a:solidFill>
                  <a:srgbClr val="0B1F39"/>
                </a:solidFill>
                <a:latin typeface="Arial Black"/>
                <a:cs typeface="Arial Black"/>
              </a:rPr>
              <a:t>P</a:t>
            </a:r>
            <a:r>
              <a:rPr sz="1100" spc="-35" dirty="0">
                <a:solidFill>
                  <a:srgbClr val="0B1F39"/>
                </a:solidFill>
                <a:latin typeface="Arial Black"/>
                <a:cs typeface="Arial Black"/>
              </a:rPr>
              <a:t>roduct</a:t>
            </a:r>
            <a:r>
              <a:rPr sz="1100" spc="-100" dirty="0">
                <a:solidFill>
                  <a:srgbClr val="0B1F39"/>
                </a:solidFill>
                <a:latin typeface="Arial Black"/>
                <a:cs typeface="Arial Black"/>
              </a:rPr>
              <a:t> </a:t>
            </a:r>
            <a:r>
              <a:rPr sz="1100" spc="-10" dirty="0">
                <a:solidFill>
                  <a:srgbClr val="0B1F39"/>
                </a:solidFill>
                <a:latin typeface="Arial Black"/>
                <a:cs typeface="Arial Black"/>
              </a:rPr>
              <a:t>introduction</a:t>
            </a:r>
            <a:endParaRPr sz="1100" dirty="0">
              <a:latin typeface="Arial Black"/>
              <a:cs typeface="Arial Black"/>
            </a:endParaRPr>
          </a:p>
          <a:p>
            <a:pPr marL="12700" marR="5080" algn="just">
              <a:lnSpc>
                <a:spcPct val="100000"/>
              </a:lnSpc>
              <a:spcBef>
                <a:spcPts val="465"/>
              </a:spcBef>
            </a:pPr>
            <a:r>
              <a:rPr lang="en-PK" sz="900" b="1" dirty="0" err="1">
                <a:latin typeface="+mn-lt"/>
                <a:cs typeface="Arial" panose="020B0604020202020204" pitchFamily="34" charset="0"/>
              </a:rPr>
              <a:t>ConceptIntel</a:t>
            </a:r>
            <a:r>
              <a:rPr lang="en-PK" sz="900" b="1" dirty="0">
                <a:latin typeface="+mn-lt"/>
                <a:cs typeface="Arial" panose="020B0604020202020204" pitchFamily="34" charset="0"/>
              </a:rPr>
              <a:t> serves university teachers and students in prerequisite-heavy STEM courses. Students never know which concept is weak</a:t>
            </a:r>
            <a:r>
              <a:rPr lang="en-US" sz="900" b="1" dirty="0">
                <a:latin typeface="+mn-lt"/>
                <a:cs typeface="Arial" panose="020B0604020202020204" pitchFamily="34" charset="0"/>
              </a:rPr>
              <a:t> </a:t>
            </a:r>
            <a:r>
              <a:rPr lang="en-PK" sz="900" b="1" dirty="0">
                <a:latin typeface="+mn-lt"/>
                <a:cs typeface="Arial" panose="020B0604020202020204" pitchFamily="34" charset="0"/>
              </a:rPr>
              <a:t>they only get a score. Teachers never know which concept the whole class lacks, with no time to give concept-level feedback to every student.</a:t>
            </a:r>
            <a:r>
              <a:rPr lang="en-PK" sz="900" dirty="0">
                <a:latin typeface="+mn-lt"/>
                <a:cs typeface="Arial" panose="020B0604020202020204" pitchFamily="34" charset="0"/>
              </a:rPr>
              <a:t> </a:t>
            </a:r>
            <a:r>
              <a:rPr lang="en-PK" sz="900" dirty="0" err="1">
                <a:latin typeface="+mn-lt"/>
                <a:cs typeface="Arial" panose="020B0604020202020204" pitchFamily="34" charset="0"/>
              </a:rPr>
              <a:t>ConceptIntel</a:t>
            </a:r>
            <a:r>
              <a:rPr lang="en-PK" sz="900" dirty="0">
                <a:latin typeface="+mn-lt"/>
                <a:cs typeface="Arial" panose="020B0604020202020204" pitchFamily="34" charset="0"/>
              </a:rPr>
              <a:t> builds a prerequisite knowledge graph, generates targeted content per concept, and its adaptive engine routes each student to what they're </a:t>
            </a:r>
            <a:r>
              <a:rPr lang="en-PK" sz="900" dirty="0" err="1">
                <a:latin typeface="+mn-lt"/>
                <a:cs typeface="Arial" panose="020B0604020202020204" pitchFamily="34" charset="0"/>
              </a:rPr>
              <a:t>missin</a:t>
            </a:r>
            <a:r>
              <a:rPr lang="en-US" sz="900" dirty="0">
                <a:latin typeface="+mn-lt"/>
                <a:cs typeface="Arial" panose="020B0604020202020204" pitchFamily="34" charset="0"/>
              </a:rPr>
              <a:t>g; </a:t>
            </a:r>
            <a:r>
              <a:rPr lang="en-PK" sz="900" dirty="0">
                <a:latin typeface="+mn-lt"/>
                <a:cs typeface="Arial" panose="020B0604020202020204" pitchFamily="34" charset="0"/>
              </a:rPr>
              <a:t>teacher-reviewed firs</a:t>
            </a:r>
            <a:r>
              <a:rPr lang="en-US" sz="900" dirty="0">
                <a:latin typeface="+mn-lt"/>
                <a:cs typeface="Arial" panose="020B0604020202020204" pitchFamily="34" charset="0"/>
              </a:rPr>
              <a:t>t.</a:t>
            </a:r>
            <a:endParaRPr sz="900" dirty="0">
              <a:latin typeface="+mn-lt"/>
              <a:cs typeface="Arial" panose="020B0604020202020204" pitchFamily="34" charset="0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357673" y="755042"/>
            <a:ext cx="3043127" cy="1645257"/>
            <a:chOff x="4109834" y="1078489"/>
            <a:chExt cx="1965325" cy="1231265"/>
          </a:xfrm>
        </p:grpSpPr>
        <p:sp>
          <p:nvSpPr>
            <p:cNvPr id="9" name="object 9"/>
            <p:cNvSpPr/>
            <p:nvPr/>
          </p:nvSpPr>
          <p:spPr>
            <a:xfrm>
              <a:off x="4114909" y="1083564"/>
              <a:ext cx="1955164" cy="1221105"/>
            </a:xfrm>
            <a:custGeom>
              <a:avLst/>
              <a:gdLst/>
              <a:ahLst/>
              <a:cxnLst/>
              <a:rect l="l" t="t" r="r" b="b"/>
              <a:pathLst>
                <a:path w="1955164" h="1221105">
                  <a:moveTo>
                    <a:pt x="1899722" y="1220723"/>
                  </a:moveTo>
                  <a:lnTo>
                    <a:pt x="54859" y="1220723"/>
                  </a:lnTo>
                  <a:lnTo>
                    <a:pt x="33505" y="1216412"/>
                  </a:lnTo>
                  <a:lnTo>
                    <a:pt x="16067" y="1204656"/>
                  </a:lnTo>
                  <a:lnTo>
                    <a:pt x="4311" y="1187218"/>
                  </a:lnTo>
                  <a:lnTo>
                    <a:pt x="0" y="1165864"/>
                  </a:lnTo>
                  <a:lnTo>
                    <a:pt x="0" y="54859"/>
                  </a:lnTo>
                  <a:lnTo>
                    <a:pt x="4311" y="33505"/>
                  </a:lnTo>
                  <a:lnTo>
                    <a:pt x="16067" y="16067"/>
                  </a:lnTo>
                  <a:lnTo>
                    <a:pt x="33505" y="4311"/>
                  </a:lnTo>
                  <a:lnTo>
                    <a:pt x="54859" y="0"/>
                  </a:lnTo>
                  <a:lnTo>
                    <a:pt x="1899722" y="0"/>
                  </a:lnTo>
                  <a:lnTo>
                    <a:pt x="1938513" y="16067"/>
                  </a:lnTo>
                  <a:lnTo>
                    <a:pt x="1954581" y="54859"/>
                  </a:lnTo>
                  <a:lnTo>
                    <a:pt x="1954581" y="1165864"/>
                  </a:lnTo>
                  <a:lnTo>
                    <a:pt x="1950270" y="1187218"/>
                  </a:lnTo>
                  <a:lnTo>
                    <a:pt x="1938514" y="1204656"/>
                  </a:lnTo>
                  <a:lnTo>
                    <a:pt x="1921076" y="1216412"/>
                  </a:lnTo>
                  <a:lnTo>
                    <a:pt x="1899722" y="12207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114909" y="1083564"/>
              <a:ext cx="1955164" cy="1221105"/>
            </a:xfrm>
            <a:custGeom>
              <a:avLst/>
              <a:gdLst/>
              <a:ahLst/>
              <a:cxnLst/>
              <a:rect l="l" t="t" r="r" b="b"/>
              <a:pathLst>
                <a:path w="1955164" h="1221105">
                  <a:moveTo>
                    <a:pt x="0" y="54859"/>
                  </a:moveTo>
                  <a:lnTo>
                    <a:pt x="4311" y="33505"/>
                  </a:lnTo>
                  <a:lnTo>
                    <a:pt x="16067" y="16067"/>
                  </a:lnTo>
                  <a:lnTo>
                    <a:pt x="33505" y="4311"/>
                  </a:lnTo>
                  <a:lnTo>
                    <a:pt x="54859" y="0"/>
                  </a:lnTo>
                  <a:lnTo>
                    <a:pt x="1899722" y="0"/>
                  </a:lnTo>
                  <a:lnTo>
                    <a:pt x="1938513" y="16067"/>
                  </a:lnTo>
                  <a:lnTo>
                    <a:pt x="1954581" y="54859"/>
                  </a:lnTo>
                  <a:lnTo>
                    <a:pt x="1954581" y="1165864"/>
                  </a:lnTo>
                  <a:lnTo>
                    <a:pt x="1950270" y="1187218"/>
                  </a:lnTo>
                  <a:lnTo>
                    <a:pt x="1938514" y="1204656"/>
                  </a:lnTo>
                  <a:lnTo>
                    <a:pt x="1921076" y="1216412"/>
                  </a:lnTo>
                  <a:lnTo>
                    <a:pt x="1899722" y="1220723"/>
                  </a:lnTo>
                  <a:lnTo>
                    <a:pt x="54859" y="1220723"/>
                  </a:lnTo>
                  <a:lnTo>
                    <a:pt x="33505" y="1216412"/>
                  </a:lnTo>
                  <a:lnTo>
                    <a:pt x="16067" y="1204656"/>
                  </a:lnTo>
                  <a:lnTo>
                    <a:pt x="4311" y="1187218"/>
                  </a:lnTo>
                  <a:lnTo>
                    <a:pt x="0" y="1165864"/>
                  </a:lnTo>
                  <a:lnTo>
                    <a:pt x="0" y="54859"/>
                  </a:lnTo>
                  <a:close/>
                </a:path>
              </a:pathLst>
            </a:custGeom>
            <a:ln w="1014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526897" y="733592"/>
            <a:ext cx="2721503" cy="954749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1100" spc="-10" dirty="0">
                <a:solidFill>
                  <a:srgbClr val="0B1F39"/>
                </a:solidFill>
                <a:latin typeface="Arial Black"/>
                <a:cs typeface="Arial Black"/>
              </a:rPr>
              <a:t>Innovation</a:t>
            </a:r>
            <a:endParaRPr sz="1100" dirty="0">
              <a:latin typeface="Arial Black"/>
              <a:cs typeface="Arial Black"/>
            </a:endParaRPr>
          </a:p>
          <a:p>
            <a:pPr marL="12700" marR="5080" algn="just">
              <a:spcBef>
                <a:spcPts val="465"/>
              </a:spcBef>
            </a:pPr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Our single most innovative capability is the two-stage human-approval workflow for AI-generated knowledge graphs: AI proposes concepts and prerequisites, a teacher edits them, and a coordinator signs off before anything reaches a student. </a:t>
            </a:r>
            <a:endParaRPr lang="en-US" sz="700" dirty="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480872" y="744790"/>
            <a:ext cx="2250163" cy="1631681"/>
            <a:chOff x="6222155" y="1078489"/>
            <a:chExt cx="2513965" cy="1231265"/>
          </a:xfrm>
        </p:grpSpPr>
        <p:sp>
          <p:nvSpPr>
            <p:cNvPr id="13" name="object 13"/>
            <p:cNvSpPr/>
            <p:nvPr/>
          </p:nvSpPr>
          <p:spPr>
            <a:xfrm>
              <a:off x="6227230" y="1083564"/>
              <a:ext cx="2503805" cy="1221105"/>
            </a:xfrm>
            <a:custGeom>
              <a:avLst/>
              <a:gdLst/>
              <a:ahLst/>
              <a:cxnLst/>
              <a:rect l="l" t="t" r="r" b="b"/>
              <a:pathLst>
                <a:path w="2503804" h="1221105">
                  <a:moveTo>
                    <a:pt x="2448376" y="1220723"/>
                  </a:moveTo>
                  <a:lnTo>
                    <a:pt x="54859" y="1220723"/>
                  </a:lnTo>
                  <a:lnTo>
                    <a:pt x="33505" y="1216412"/>
                  </a:lnTo>
                  <a:lnTo>
                    <a:pt x="16067" y="1204656"/>
                  </a:lnTo>
                  <a:lnTo>
                    <a:pt x="4311" y="1187218"/>
                  </a:lnTo>
                  <a:lnTo>
                    <a:pt x="0" y="1165864"/>
                  </a:lnTo>
                  <a:lnTo>
                    <a:pt x="0" y="54859"/>
                  </a:lnTo>
                  <a:lnTo>
                    <a:pt x="4311" y="33505"/>
                  </a:lnTo>
                  <a:lnTo>
                    <a:pt x="16067" y="16067"/>
                  </a:lnTo>
                  <a:lnTo>
                    <a:pt x="33505" y="4311"/>
                  </a:lnTo>
                  <a:lnTo>
                    <a:pt x="54859" y="0"/>
                  </a:lnTo>
                  <a:lnTo>
                    <a:pt x="2448376" y="0"/>
                  </a:lnTo>
                  <a:lnTo>
                    <a:pt x="2487168" y="16067"/>
                  </a:lnTo>
                  <a:lnTo>
                    <a:pt x="2503236" y="54859"/>
                  </a:lnTo>
                  <a:lnTo>
                    <a:pt x="2503236" y="1165864"/>
                  </a:lnTo>
                  <a:lnTo>
                    <a:pt x="2498925" y="1187218"/>
                  </a:lnTo>
                  <a:lnTo>
                    <a:pt x="2487168" y="1204656"/>
                  </a:lnTo>
                  <a:lnTo>
                    <a:pt x="2469730" y="1216412"/>
                  </a:lnTo>
                  <a:lnTo>
                    <a:pt x="2448376" y="12207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227230" y="1083564"/>
              <a:ext cx="2503805" cy="1221105"/>
            </a:xfrm>
            <a:custGeom>
              <a:avLst/>
              <a:gdLst/>
              <a:ahLst/>
              <a:cxnLst/>
              <a:rect l="l" t="t" r="r" b="b"/>
              <a:pathLst>
                <a:path w="2503804" h="1221105">
                  <a:moveTo>
                    <a:pt x="0" y="54859"/>
                  </a:moveTo>
                  <a:lnTo>
                    <a:pt x="4311" y="33505"/>
                  </a:lnTo>
                  <a:lnTo>
                    <a:pt x="16067" y="16067"/>
                  </a:lnTo>
                  <a:lnTo>
                    <a:pt x="33505" y="4311"/>
                  </a:lnTo>
                  <a:lnTo>
                    <a:pt x="54859" y="0"/>
                  </a:lnTo>
                  <a:lnTo>
                    <a:pt x="2448376" y="0"/>
                  </a:lnTo>
                  <a:lnTo>
                    <a:pt x="2487168" y="16067"/>
                  </a:lnTo>
                  <a:lnTo>
                    <a:pt x="2503236" y="54859"/>
                  </a:lnTo>
                  <a:lnTo>
                    <a:pt x="2503236" y="1165864"/>
                  </a:lnTo>
                  <a:lnTo>
                    <a:pt x="2498925" y="1187218"/>
                  </a:lnTo>
                  <a:lnTo>
                    <a:pt x="2487168" y="1204656"/>
                  </a:lnTo>
                  <a:lnTo>
                    <a:pt x="2469730" y="1216412"/>
                  </a:lnTo>
                  <a:lnTo>
                    <a:pt x="2448376" y="1220723"/>
                  </a:lnTo>
                  <a:lnTo>
                    <a:pt x="54859" y="1220723"/>
                  </a:lnTo>
                  <a:lnTo>
                    <a:pt x="33505" y="1216412"/>
                  </a:lnTo>
                  <a:lnTo>
                    <a:pt x="16067" y="1204656"/>
                  </a:lnTo>
                  <a:lnTo>
                    <a:pt x="4311" y="1187218"/>
                  </a:lnTo>
                  <a:lnTo>
                    <a:pt x="0" y="1165864"/>
                  </a:lnTo>
                  <a:lnTo>
                    <a:pt x="0" y="54859"/>
                  </a:lnTo>
                  <a:close/>
                </a:path>
              </a:pathLst>
            </a:custGeom>
            <a:ln w="1014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618237" y="710588"/>
            <a:ext cx="1943057" cy="1570302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825"/>
              </a:spcBef>
            </a:pPr>
            <a:r>
              <a:rPr sz="1100" spc="-30" dirty="0">
                <a:solidFill>
                  <a:srgbClr val="0B1F39"/>
                </a:solidFill>
                <a:latin typeface="Arial Black"/>
                <a:cs typeface="Arial Black"/>
              </a:rPr>
              <a:t>Quality</a:t>
            </a:r>
            <a:r>
              <a:rPr sz="1100" spc="-100" dirty="0">
                <a:solidFill>
                  <a:srgbClr val="0B1F39"/>
                </a:solidFill>
                <a:latin typeface="Arial Black"/>
                <a:cs typeface="Arial Black"/>
              </a:rPr>
              <a:t> </a:t>
            </a:r>
            <a:r>
              <a:rPr sz="1100" spc="-10" dirty="0">
                <a:solidFill>
                  <a:srgbClr val="0B1F39"/>
                </a:solidFill>
                <a:latin typeface="Arial Black"/>
                <a:cs typeface="Arial Black"/>
              </a:rPr>
              <a:t>control</a:t>
            </a:r>
            <a:endParaRPr sz="1100" dirty="0">
              <a:latin typeface="Arial Black"/>
              <a:cs typeface="Arial Black"/>
            </a:endParaRPr>
          </a:p>
          <a:p>
            <a:pPr marL="12700" marR="5080" algn="just">
              <a:lnSpc>
                <a:spcPct val="100000"/>
              </a:lnSpc>
              <a:spcBef>
                <a:spcPts val="465"/>
              </a:spcBef>
            </a:pPr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No formal certifications yet — this is an academic prototype. Our compliance evidence is architectural: role-based access across 5 tiers, JWT authentication, AI content sandboxed under a strict CSP, and full AI-call tracing via </a:t>
            </a:r>
            <a:r>
              <a:rPr lang="en-US" sz="80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Langfuse</a:t>
            </a:r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 Every AI answer, including assignment feedback, is grounded through RAG with mandatory citations so nothing is generated ungrounded</a:t>
            </a:r>
            <a:endParaRPr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2507" y="2517140"/>
            <a:ext cx="114935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CORE</a:t>
            </a:r>
            <a:r>
              <a:rPr sz="600" b="1" spc="-10" dirty="0">
                <a:solidFill>
                  <a:srgbClr val="FFFFFF"/>
                </a:solidFill>
                <a:latin typeface="Arial"/>
                <a:cs typeface="Arial"/>
              </a:rPr>
              <a:t> QUALIFICATION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Arial"/>
                <a:cs typeface="Arial"/>
              </a:rPr>
              <a:t>FIELDS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20444" y="2738437"/>
            <a:ext cx="2046605" cy="544830"/>
            <a:chOff x="420444" y="2738437"/>
            <a:chExt cx="2046605" cy="544830"/>
          </a:xfrm>
        </p:grpSpPr>
        <p:sp>
          <p:nvSpPr>
            <p:cNvPr id="18" name="object 18"/>
            <p:cNvSpPr/>
            <p:nvPr/>
          </p:nvSpPr>
          <p:spPr>
            <a:xfrm>
              <a:off x="425207" y="2743200"/>
              <a:ext cx="2037080" cy="535305"/>
            </a:xfrm>
            <a:custGeom>
              <a:avLst/>
              <a:gdLst/>
              <a:ahLst/>
              <a:cxnLst/>
              <a:rect l="l" t="t" r="r" b="b"/>
              <a:pathLst>
                <a:path w="2037080" h="535304">
                  <a:moveTo>
                    <a:pt x="1982018" y="534923"/>
                  </a:moveTo>
                  <a:lnTo>
                    <a:pt x="54861" y="534923"/>
                  </a:lnTo>
                  <a:lnTo>
                    <a:pt x="33507" y="530612"/>
                  </a:lnTo>
                  <a:lnTo>
                    <a:pt x="16068" y="518855"/>
                  </a:lnTo>
                  <a:lnTo>
                    <a:pt x="4311" y="501416"/>
                  </a:lnTo>
                  <a:lnTo>
                    <a:pt x="0" y="480062"/>
                  </a:lnTo>
                  <a:lnTo>
                    <a:pt x="0" y="54861"/>
                  </a:ln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1" y="0"/>
                  </a:lnTo>
                  <a:lnTo>
                    <a:pt x="1982018" y="0"/>
                  </a:lnTo>
                  <a:lnTo>
                    <a:pt x="2020811" y="16068"/>
                  </a:lnTo>
                  <a:lnTo>
                    <a:pt x="2036880" y="54861"/>
                  </a:lnTo>
                  <a:lnTo>
                    <a:pt x="2036880" y="480062"/>
                  </a:lnTo>
                  <a:lnTo>
                    <a:pt x="2032569" y="501416"/>
                  </a:lnTo>
                  <a:lnTo>
                    <a:pt x="2020811" y="518855"/>
                  </a:lnTo>
                  <a:lnTo>
                    <a:pt x="2003373" y="530612"/>
                  </a:lnTo>
                  <a:lnTo>
                    <a:pt x="1982018" y="5349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25207" y="2743200"/>
              <a:ext cx="2037080" cy="535305"/>
            </a:xfrm>
            <a:custGeom>
              <a:avLst/>
              <a:gdLst/>
              <a:ahLst/>
              <a:cxnLst/>
              <a:rect l="l" t="t" r="r" b="b"/>
              <a:pathLst>
                <a:path w="2037080" h="535304">
                  <a:moveTo>
                    <a:pt x="0" y="54861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1" y="0"/>
                  </a:lnTo>
                  <a:lnTo>
                    <a:pt x="1982018" y="0"/>
                  </a:lnTo>
                  <a:lnTo>
                    <a:pt x="2020811" y="16068"/>
                  </a:lnTo>
                  <a:lnTo>
                    <a:pt x="2036880" y="54861"/>
                  </a:lnTo>
                  <a:lnTo>
                    <a:pt x="2036880" y="480062"/>
                  </a:lnTo>
                  <a:lnTo>
                    <a:pt x="2032569" y="501416"/>
                  </a:lnTo>
                  <a:lnTo>
                    <a:pt x="2020811" y="518855"/>
                  </a:lnTo>
                  <a:lnTo>
                    <a:pt x="2003373" y="530612"/>
                  </a:lnTo>
                  <a:lnTo>
                    <a:pt x="1982018" y="534923"/>
                  </a:lnTo>
                  <a:lnTo>
                    <a:pt x="54861" y="534923"/>
                  </a:lnTo>
                  <a:lnTo>
                    <a:pt x="33507" y="530612"/>
                  </a:lnTo>
                  <a:lnTo>
                    <a:pt x="16068" y="518855"/>
                  </a:lnTo>
                  <a:lnTo>
                    <a:pt x="4311" y="501416"/>
                  </a:lnTo>
                  <a:lnTo>
                    <a:pt x="0" y="480062"/>
                  </a:lnTo>
                  <a:lnTo>
                    <a:pt x="0" y="54861"/>
                  </a:lnTo>
                  <a:close/>
                </a:path>
              </a:pathLst>
            </a:custGeom>
            <a:ln w="9524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7184" y="2832000"/>
              <a:ext cx="173819" cy="163594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789706" y="2826639"/>
            <a:ext cx="1538791" cy="2718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35" dirty="0">
                <a:solidFill>
                  <a:srgbClr val="0B1F39"/>
                </a:solidFill>
                <a:latin typeface="Arial Black"/>
                <a:cs typeface="Arial Black"/>
              </a:rPr>
              <a:t>Founded</a:t>
            </a:r>
            <a:r>
              <a:rPr sz="800" spc="-45" dirty="0">
                <a:solidFill>
                  <a:srgbClr val="0B1F39"/>
                </a:solidFill>
                <a:latin typeface="Arial Black"/>
                <a:cs typeface="Arial Black"/>
              </a:rPr>
              <a:t> </a:t>
            </a:r>
            <a:r>
              <a:rPr sz="800" spc="-25" dirty="0">
                <a:solidFill>
                  <a:srgbClr val="0B1F39"/>
                </a:solidFill>
                <a:latin typeface="Arial Black"/>
                <a:cs typeface="Arial Black"/>
              </a:rPr>
              <a:t>in</a:t>
            </a:r>
            <a:endParaRPr lang="en-US" sz="800" spc="-25" dirty="0">
              <a:solidFill>
                <a:srgbClr val="0B1F39"/>
              </a:solidFill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PK" sz="800" dirty="0"/>
              <a:t>Feb 2026</a:t>
            </a:r>
            <a:r>
              <a:rPr lang="en-US" sz="800" dirty="0"/>
              <a:t>; </a:t>
            </a:r>
            <a:r>
              <a:rPr lang="en-PK" sz="800" dirty="0"/>
              <a:t>Air University FYP</a:t>
            </a:r>
            <a:endParaRPr sz="600" dirty="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608204" y="2738437"/>
            <a:ext cx="2046605" cy="544830"/>
            <a:chOff x="2608204" y="2738437"/>
            <a:chExt cx="2046605" cy="544830"/>
          </a:xfrm>
        </p:grpSpPr>
        <p:sp>
          <p:nvSpPr>
            <p:cNvPr id="23" name="object 23"/>
            <p:cNvSpPr/>
            <p:nvPr/>
          </p:nvSpPr>
          <p:spPr>
            <a:xfrm>
              <a:off x="2612967" y="2743200"/>
              <a:ext cx="2037080" cy="535305"/>
            </a:xfrm>
            <a:custGeom>
              <a:avLst/>
              <a:gdLst/>
              <a:ahLst/>
              <a:cxnLst/>
              <a:rect l="l" t="t" r="r" b="b"/>
              <a:pathLst>
                <a:path w="2037079" h="535304">
                  <a:moveTo>
                    <a:pt x="1982018" y="534923"/>
                  </a:moveTo>
                  <a:lnTo>
                    <a:pt x="54861" y="534923"/>
                  </a:lnTo>
                  <a:lnTo>
                    <a:pt x="33507" y="530612"/>
                  </a:lnTo>
                  <a:lnTo>
                    <a:pt x="16068" y="518855"/>
                  </a:lnTo>
                  <a:lnTo>
                    <a:pt x="4311" y="501416"/>
                  </a:lnTo>
                  <a:lnTo>
                    <a:pt x="0" y="480062"/>
                  </a:lnTo>
                  <a:lnTo>
                    <a:pt x="0" y="54861"/>
                  </a:ln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1" y="0"/>
                  </a:lnTo>
                  <a:lnTo>
                    <a:pt x="1982018" y="0"/>
                  </a:lnTo>
                  <a:lnTo>
                    <a:pt x="2020811" y="16068"/>
                  </a:lnTo>
                  <a:lnTo>
                    <a:pt x="2036880" y="54861"/>
                  </a:lnTo>
                  <a:lnTo>
                    <a:pt x="2036880" y="480062"/>
                  </a:lnTo>
                  <a:lnTo>
                    <a:pt x="2032569" y="501416"/>
                  </a:lnTo>
                  <a:lnTo>
                    <a:pt x="2020811" y="518855"/>
                  </a:lnTo>
                  <a:lnTo>
                    <a:pt x="2003373" y="530612"/>
                  </a:lnTo>
                  <a:lnTo>
                    <a:pt x="1982018" y="5349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612967" y="2743200"/>
              <a:ext cx="2037080" cy="535305"/>
            </a:xfrm>
            <a:custGeom>
              <a:avLst/>
              <a:gdLst/>
              <a:ahLst/>
              <a:cxnLst/>
              <a:rect l="l" t="t" r="r" b="b"/>
              <a:pathLst>
                <a:path w="2037079" h="535304">
                  <a:moveTo>
                    <a:pt x="0" y="54861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1" y="0"/>
                  </a:lnTo>
                  <a:lnTo>
                    <a:pt x="1982018" y="0"/>
                  </a:lnTo>
                  <a:lnTo>
                    <a:pt x="2020811" y="16068"/>
                  </a:lnTo>
                  <a:lnTo>
                    <a:pt x="2036880" y="54861"/>
                  </a:lnTo>
                  <a:lnTo>
                    <a:pt x="2036880" y="480062"/>
                  </a:lnTo>
                  <a:lnTo>
                    <a:pt x="2032569" y="501416"/>
                  </a:lnTo>
                  <a:lnTo>
                    <a:pt x="2020811" y="518855"/>
                  </a:lnTo>
                  <a:lnTo>
                    <a:pt x="2003373" y="530612"/>
                  </a:lnTo>
                  <a:lnTo>
                    <a:pt x="1982018" y="534923"/>
                  </a:lnTo>
                  <a:lnTo>
                    <a:pt x="54861" y="534923"/>
                  </a:lnTo>
                  <a:lnTo>
                    <a:pt x="33507" y="530612"/>
                  </a:lnTo>
                  <a:lnTo>
                    <a:pt x="16068" y="518855"/>
                  </a:lnTo>
                  <a:lnTo>
                    <a:pt x="4311" y="501416"/>
                  </a:lnTo>
                  <a:lnTo>
                    <a:pt x="0" y="480062"/>
                  </a:lnTo>
                  <a:lnTo>
                    <a:pt x="0" y="54861"/>
                  </a:lnTo>
                  <a:close/>
                </a:path>
              </a:pathLst>
            </a:custGeom>
            <a:ln w="9524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24945" y="2832000"/>
              <a:ext cx="173819" cy="163594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2977467" y="2826639"/>
            <a:ext cx="1527810" cy="323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40" dirty="0">
                <a:solidFill>
                  <a:srgbClr val="0B1F39"/>
                </a:solidFill>
                <a:latin typeface="Arial Black"/>
                <a:cs typeface="Arial Black"/>
              </a:rPr>
              <a:t>Launched </a:t>
            </a:r>
            <a:r>
              <a:rPr sz="800" spc="-25" dirty="0">
                <a:solidFill>
                  <a:srgbClr val="0B1F39"/>
                </a:solidFill>
                <a:latin typeface="Arial Black"/>
                <a:cs typeface="Arial Black"/>
              </a:rPr>
              <a:t>in</a:t>
            </a:r>
            <a:endParaRPr sz="800" dirty="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509"/>
              </a:spcBef>
            </a:pPr>
            <a:r>
              <a:rPr lang="en-PK" sz="800" dirty="0"/>
              <a:t>Prototype</a:t>
            </a:r>
            <a:endParaRPr sz="600" dirty="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795965" y="2738437"/>
            <a:ext cx="2046605" cy="544830"/>
            <a:chOff x="4795965" y="2738437"/>
            <a:chExt cx="2046605" cy="544830"/>
          </a:xfrm>
        </p:grpSpPr>
        <p:sp>
          <p:nvSpPr>
            <p:cNvPr id="28" name="object 28"/>
            <p:cNvSpPr/>
            <p:nvPr/>
          </p:nvSpPr>
          <p:spPr>
            <a:xfrm>
              <a:off x="4800727" y="2743200"/>
              <a:ext cx="2037080" cy="535305"/>
            </a:xfrm>
            <a:custGeom>
              <a:avLst/>
              <a:gdLst/>
              <a:ahLst/>
              <a:cxnLst/>
              <a:rect l="l" t="t" r="r" b="b"/>
              <a:pathLst>
                <a:path w="2037079" h="535304">
                  <a:moveTo>
                    <a:pt x="1982017" y="534923"/>
                  </a:moveTo>
                  <a:lnTo>
                    <a:pt x="54861" y="534923"/>
                  </a:lnTo>
                  <a:lnTo>
                    <a:pt x="33507" y="530612"/>
                  </a:lnTo>
                  <a:lnTo>
                    <a:pt x="16068" y="518855"/>
                  </a:lnTo>
                  <a:lnTo>
                    <a:pt x="4311" y="501416"/>
                  </a:lnTo>
                  <a:lnTo>
                    <a:pt x="0" y="480062"/>
                  </a:lnTo>
                  <a:lnTo>
                    <a:pt x="0" y="54861"/>
                  </a:ln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1" y="0"/>
                  </a:lnTo>
                  <a:lnTo>
                    <a:pt x="1982017" y="0"/>
                  </a:lnTo>
                  <a:lnTo>
                    <a:pt x="2020811" y="16068"/>
                  </a:lnTo>
                  <a:lnTo>
                    <a:pt x="2036880" y="54861"/>
                  </a:lnTo>
                  <a:lnTo>
                    <a:pt x="2036880" y="480062"/>
                  </a:lnTo>
                  <a:lnTo>
                    <a:pt x="2032569" y="501416"/>
                  </a:lnTo>
                  <a:lnTo>
                    <a:pt x="2020811" y="518855"/>
                  </a:lnTo>
                  <a:lnTo>
                    <a:pt x="2003373" y="530612"/>
                  </a:lnTo>
                  <a:lnTo>
                    <a:pt x="1982017" y="5349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800727" y="2743200"/>
              <a:ext cx="2037080" cy="535305"/>
            </a:xfrm>
            <a:custGeom>
              <a:avLst/>
              <a:gdLst/>
              <a:ahLst/>
              <a:cxnLst/>
              <a:rect l="l" t="t" r="r" b="b"/>
              <a:pathLst>
                <a:path w="2037079" h="535304">
                  <a:moveTo>
                    <a:pt x="0" y="54861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1" y="0"/>
                  </a:lnTo>
                  <a:lnTo>
                    <a:pt x="1982017" y="0"/>
                  </a:lnTo>
                  <a:lnTo>
                    <a:pt x="2020811" y="16068"/>
                  </a:lnTo>
                  <a:lnTo>
                    <a:pt x="2036880" y="54861"/>
                  </a:lnTo>
                  <a:lnTo>
                    <a:pt x="2036880" y="480062"/>
                  </a:lnTo>
                  <a:lnTo>
                    <a:pt x="2032569" y="501416"/>
                  </a:lnTo>
                  <a:lnTo>
                    <a:pt x="2020811" y="518855"/>
                  </a:lnTo>
                  <a:lnTo>
                    <a:pt x="2003373" y="530612"/>
                  </a:lnTo>
                  <a:lnTo>
                    <a:pt x="1982017" y="534923"/>
                  </a:lnTo>
                  <a:lnTo>
                    <a:pt x="54861" y="534923"/>
                  </a:lnTo>
                  <a:lnTo>
                    <a:pt x="33507" y="530612"/>
                  </a:lnTo>
                  <a:lnTo>
                    <a:pt x="16068" y="518855"/>
                  </a:lnTo>
                  <a:lnTo>
                    <a:pt x="4311" y="501416"/>
                  </a:lnTo>
                  <a:lnTo>
                    <a:pt x="0" y="480062"/>
                  </a:lnTo>
                  <a:lnTo>
                    <a:pt x="0" y="54861"/>
                  </a:lnTo>
                  <a:close/>
                </a:path>
              </a:pathLst>
            </a:custGeom>
            <a:ln w="9524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12706" y="2832000"/>
              <a:ext cx="173819" cy="163594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5165228" y="2826639"/>
            <a:ext cx="1388110" cy="2718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20" dirty="0">
                <a:solidFill>
                  <a:srgbClr val="0B1F39"/>
                </a:solidFill>
                <a:latin typeface="Arial Black"/>
                <a:cs typeface="Arial Black"/>
              </a:rPr>
              <a:t>Number</a:t>
            </a:r>
            <a:r>
              <a:rPr sz="800" spc="-70" dirty="0">
                <a:solidFill>
                  <a:srgbClr val="0B1F39"/>
                </a:solidFill>
                <a:latin typeface="Arial Black"/>
                <a:cs typeface="Arial Black"/>
              </a:rPr>
              <a:t> </a:t>
            </a:r>
            <a:r>
              <a:rPr sz="800" spc="-35" dirty="0">
                <a:solidFill>
                  <a:srgbClr val="0B1F39"/>
                </a:solidFill>
                <a:latin typeface="Arial Black"/>
                <a:cs typeface="Arial Black"/>
              </a:rPr>
              <a:t>of</a:t>
            </a:r>
            <a:r>
              <a:rPr sz="800" spc="-70" dirty="0">
                <a:solidFill>
                  <a:srgbClr val="0B1F39"/>
                </a:solidFill>
                <a:latin typeface="Arial Black"/>
                <a:cs typeface="Arial Black"/>
              </a:rPr>
              <a:t> </a:t>
            </a:r>
            <a:r>
              <a:rPr sz="800" spc="-10" dirty="0">
                <a:solidFill>
                  <a:srgbClr val="0B1F39"/>
                </a:solidFill>
                <a:latin typeface="Arial Black"/>
                <a:cs typeface="Arial Black"/>
              </a:rPr>
              <a:t>Clients</a:t>
            </a:r>
            <a:endParaRPr lang="en-US" sz="800" spc="-10" dirty="0">
              <a:solidFill>
                <a:srgbClr val="0B1F39"/>
              </a:solidFill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PK" sz="800" dirty="0"/>
              <a:t>0 paying</a:t>
            </a:r>
            <a:r>
              <a:rPr lang="en-US" sz="800" dirty="0"/>
              <a:t>; </a:t>
            </a:r>
            <a:r>
              <a:rPr lang="en-PK" sz="800" dirty="0"/>
              <a:t>3 subjects </a:t>
            </a:r>
            <a:r>
              <a:rPr lang="en-PK" sz="800" dirty="0" err="1"/>
              <a:t>validat</a:t>
            </a:r>
            <a:r>
              <a:rPr lang="en-US" sz="800" dirty="0"/>
              <a:t>ed</a:t>
            </a:r>
            <a:endParaRPr sz="600" dirty="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983725" y="2738437"/>
            <a:ext cx="2046605" cy="544830"/>
            <a:chOff x="6983725" y="2738437"/>
            <a:chExt cx="2046605" cy="544830"/>
          </a:xfrm>
        </p:grpSpPr>
        <p:sp>
          <p:nvSpPr>
            <p:cNvPr id="33" name="object 33"/>
            <p:cNvSpPr/>
            <p:nvPr/>
          </p:nvSpPr>
          <p:spPr>
            <a:xfrm>
              <a:off x="6988488" y="2743200"/>
              <a:ext cx="2037080" cy="535305"/>
            </a:xfrm>
            <a:custGeom>
              <a:avLst/>
              <a:gdLst/>
              <a:ahLst/>
              <a:cxnLst/>
              <a:rect l="l" t="t" r="r" b="b"/>
              <a:pathLst>
                <a:path w="2037079" h="535304">
                  <a:moveTo>
                    <a:pt x="1982018" y="534923"/>
                  </a:moveTo>
                  <a:lnTo>
                    <a:pt x="54861" y="534923"/>
                  </a:lnTo>
                  <a:lnTo>
                    <a:pt x="33507" y="530612"/>
                  </a:lnTo>
                  <a:lnTo>
                    <a:pt x="16068" y="518855"/>
                  </a:lnTo>
                  <a:lnTo>
                    <a:pt x="4311" y="501416"/>
                  </a:lnTo>
                  <a:lnTo>
                    <a:pt x="0" y="480062"/>
                  </a:lnTo>
                  <a:lnTo>
                    <a:pt x="0" y="54861"/>
                  </a:ln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1" y="0"/>
                  </a:lnTo>
                  <a:lnTo>
                    <a:pt x="1982018" y="0"/>
                  </a:lnTo>
                  <a:lnTo>
                    <a:pt x="2020811" y="16068"/>
                  </a:lnTo>
                  <a:lnTo>
                    <a:pt x="2036880" y="54861"/>
                  </a:lnTo>
                  <a:lnTo>
                    <a:pt x="2036880" y="480062"/>
                  </a:lnTo>
                  <a:lnTo>
                    <a:pt x="2032569" y="501416"/>
                  </a:lnTo>
                  <a:lnTo>
                    <a:pt x="2020811" y="518855"/>
                  </a:lnTo>
                  <a:lnTo>
                    <a:pt x="2003373" y="530612"/>
                  </a:lnTo>
                  <a:lnTo>
                    <a:pt x="1982018" y="5349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988488" y="2743200"/>
              <a:ext cx="2037080" cy="535305"/>
            </a:xfrm>
            <a:custGeom>
              <a:avLst/>
              <a:gdLst/>
              <a:ahLst/>
              <a:cxnLst/>
              <a:rect l="l" t="t" r="r" b="b"/>
              <a:pathLst>
                <a:path w="2037079" h="535304">
                  <a:moveTo>
                    <a:pt x="0" y="54861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1" y="0"/>
                  </a:lnTo>
                  <a:lnTo>
                    <a:pt x="1982018" y="0"/>
                  </a:lnTo>
                  <a:lnTo>
                    <a:pt x="2020811" y="16068"/>
                  </a:lnTo>
                  <a:lnTo>
                    <a:pt x="2036880" y="54861"/>
                  </a:lnTo>
                  <a:lnTo>
                    <a:pt x="2036880" y="480062"/>
                  </a:lnTo>
                  <a:lnTo>
                    <a:pt x="2032569" y="501416"/>
                  </a:lnTo>
                  <a:lnTo>
                    <a:pt x="2020811" y="518855"/>
                  </a:lnTo>
                  <a:lnTo>
                    <a:pt x="2003373" y="530612"/>
                  </a:lnTo>
                  <a:lnTo>
                    <a:pt x="1982018" y="534923"/>
                  </a:lnTo>
                  <a:lnTo>
                    <a:pt x="54861" y="534923"/>
                  </a:lnTo>
                  <a:lnTo>
                    <a:pt x="33507" y="530612"/>
                  </a:lnTo>
                  <a:lnTo>
                    <a:pt x="16068" y="518855"/>
                  </a:lnTo>
                  <a:lnTo>
                    <a:pt x="4311" y="501416"/>
                  </a:lnTo>
                  <a:lnTo>
                    <a:pt x="0" y="480062"/>
                  </a:lnTo>
                  <a:lnTo>
                    <a:pt x="0" y="54861"/>
                  </a:lnTo>
                  <a:close/>
                </a:path>
              </a:pathLst>
            </a:custGeom>
            <a:ln w="9524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00466" y="2832000"/>
              <a:ext cx="173819" cy="163594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7352988" y="2826639"/>
            <a:ext cx="1529080" cy="2718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85" dirty="0">
                <a:solidFill>
                  <a:srgbClr val="0B1F39"/>
                </a:solidFill>
                <a:latin typeface="Arial Black"/>
                <a:cs typeface="Arial Black"/>
              </a:rPr>
              <a:t>IP</a:t>
            </a:r>
            <a:r>
              <a:rPr sz="800" spc="-90" dirty="0">
                <a:solidFill>
                  <a:srgbClr val="0B1F39"/>
                </a:solidFill>
                <a:latin typeface="Arial Black"/>
                <a:cs typeface="Arial Black"/>
              </a:rPr>
              <a:t> </a:t>
            </a:r>
            <a:r>
              <a:rPr sz="800" spc="-10" dirty="0">
                <a:solidFill>
                  <a:srgbClr val="0B1F39"/>
                </a:solidFill>
                <a:latin typeface="Arial Black"/>
                <a:cs typeface="Arial Black"/>
              </a:rPr>
              <a:t>Owned</a:t>
            </a:r>
            <a:endParaRPr lang="en-US" sz="800" spc="-10" dirty="0">
              <a:solidFill>
                <a:srgbClr val="0B1F39"/>
              </a:solidFill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dirty="0"/>
              <a:t>Yes</a:t>
            </a:r>
            <a:endParaRPr sz="600" dirty="0">
              <a:latin typeface="Arial MT"/>
              <a:cs typeface="Arial M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20444" y="3410521"/>
            <a:ext cx="2046605" cy="544830"/>
            <a:chOff x="420444" y="3410521"/>
            <a:chExt cx="2046605" cy="544830"/>
          </a:xfrm>
        </p:grpSpPr>
        <p:sp>
          <p:nvSpPr>
            <p:cNvPr id="38" name="object 38"/>
            <p:cNvSpPr/>
            <p:nvPr/>
          </p:nvSpPr>
          <p:spPr>
            <a:xfrm>
              <a:off x="425207" y="3415284"/>
              <a:ext cx="2037080" cy="535305"/>
            </a:xfrm>
            <a:custGeom>
              <a:avLst/>
              <a:gdLst/>
              <a:ahLst/>
              <a:cxnLst/>
              <a:rect l="l" t="t" r="r" b="b"/>
              <a:pathLst>
                <a:path w="2037080" h="535304">
                  <a:moveTo>
                    <a:pt x="1982018" y="534923"/>
                  </a:moveTo>
                  <a:lnTo>
                    <a:pt x="54861" y="534923"/>
                  </a:lnTo>
                  <a:lnTo>
                    <a:pt x="33507" y="530612"/>
                  </a:lnTo>
                  <a:lnTo>
                    <a:pt x="16068" y="518855"/>
                  </a:lnTo>
                  <a:lnTo>
                    <a:pt x="4311" y="501416"/>
                  </a:lnTo>
                  <a:lnTo>
                    <a:pt x="0" y="480061"/>
                  </a:lnTo>
                  <a:lnTo>
                    <a:pt x="0" y="54861"/>
                  </a:ln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1" y="0"/>
                  </a:lnTo>
                  <a:lnTo>
                    <a:pt x="1982018" y="0"/>
                  </a:lnTo>
                  <a:lnTo>
                    <a:pt x="2020811" y="16068"/>
                  </a:lnTo>
                  <a:lnTo>
                    <a:pt x="2036880" y="54861"/>
                  </a:lnTo>
                  <a:lnTo>
                    <a:pt x="2036880" y="480061"/>
                  </a:lnTo>
                  <a:lnTo>
                    <a:pt x="2032569" y="501416"/>
                  </a:lnTo>
                  <a:lnTo>
                    <a:pt x="2020811" y="518855"/>
                  </a:lnTo>
                  <a:lnTo>
                    <a:pt x="2003373" y="530612"/>
                  </a:lnTo>
                  <a:lnTo>
                    <a:pt x="1982018" y="5349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25207" y="3415284"/>
              <a:ext cx="2037080" cy="535305"/>
            </a:xfrm>
            <a:custGeom>
              <a:avLst/>
              <a:gdLst/>
              <a:ahLst/>
              <a:cxnLst/>
              <a:rect l="l" t="t" r="r" b="b"/>
              <a:pathLst>
                <a:path w="2037080" h="535304">
                  <a:moveTo>
                    <a:pt x="0" y="54861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1" y="0"/>
                  </a:lnTo>
                  <a:lnTo>
                    <a:pt x="1982018" y="0"/>
                  </a:lnTo>
                  <a:lnTo>
                    <a:pt x="2020811" y="16068"/>
                  </a:lnTo>
                  <a:lnTo>
                    <a:pt x="2036880" y="54861"/>
                  </a:lnTo>
                  <a:lnTo>
                    <a:pt x="2036880" y="480061"/>
                  </a:lnTo>
                  <a:lnTo>
                    <a:pt x="2032569" y="501416"/>
                  </a:lnTo>
                  <a:lnTo>
                    <a:pt x="2020811" y="518855"/>
                  </a:lnTo>
                  <a:lnTo>
                    <a:pt x="2003373" y="530612"/>
                  </a:lnTo>
                  <a:lnTo>
                    <a:pt x="1982018" y="534923"/>
                  </a:lnTo>
                  <a:lnTo>
                    <a:pt x="54861" y="534923"/>
                  </a:lnTo>
                  <a:lnTo>
                    <a:pt x="33507" y="530612"/>
                  </a:lnTo>
                  <a:lnTo>
                    <a:pt x="16068" y="518855"/>
                  </a:lnTo>
                  <a:lnTo>
                    <a:pt x="4311" y="501416"/>
                  </a:lnTo>
                  <a:lnTo>
                    <a:pt x="0" y="480061"/>
                  </a:lnTo>
                  <a:lnTo>
                    <a:pt x="0" y="54861"/>
                  </a:lnTo>
                  <a:close/>
                </a:path>
              </a:pathLst>
            </a:custGeom>
            <a:ln w="9524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7184" y="3504084"/>
              <a:ext cx="173819" cy="163594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789707" y="3498722"/>
            <a:ext cx="1555750" cy="323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45" dirty="0">
                <a:solidFill>
                  <a:srgbClr val="0B1F39"/>
                </a:solidFill>
                <a:latin typeface="Arial Black"/>
                <a:cs typeface="Arial Black"/>
              </a:rPr>
              <a:t>Business</a:t>
            </a:r>
            <a:r>
              <a:rPr sz="800" spc="-60" dirty="0">
                <a:solidFill>
                  <a:srgbClr val="0B1F39"/>
                </a:solidFill>
                <a:latin typeface="Arial Black"/>
                <a:cs typeface="Arial Black"/>
              </a:rPr>
              <a:t> </a:t>
            </a:r>
            <a:r>
              <a:rPr sz="800" spc="-10" dirty="0">
                <a:solidFill>
                  <a:srgbClr val="0B1F39"/>
                </a:solidFill>
                <a:latin typeface="Arial Black"/>
                <a:cs typeface="Arial Black"/>
              </a:rPr>
              <a:t>Model</a:t>
            </a:r>
            <a:endParaRPr sz="800" dirty="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509"/>
              </a:spcBef>
            </a:pPr>
            <a:r>
              <a:rPr sz="8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SaaS </a:t>
            </a:r>
            <a:r>
              <a:rPr lang="en-US" sz="8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sz="8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per-institution license</a:t>
            </a:r>
            <a:r>
              <a:rPr lang="en-US" sz="8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sz="800" spc="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sz="800" spc="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2608204" y="3410521"/>
            <a:ext cx="2046605" cy="544830"/>
            <a:chOff x="2608204" y="3410521"/>
            <a:chExt cx="2046605" cy="544830"/>
          </a:xfrm>
        </p:grpSpPr>
        <p:sp>
          <p:nvSpPr>
            <p:cNvPr id="43" name="object 43"/>
            <p:cNvSpPr/>
            <p:nvPr/>
          </p:nvSpPr>
          <p:spPr>
            <a:xfrm>
              <a:off x="2612967" y="3415284"/>
              <a:ext cx="2037080" cy="535305"/>
            </a:xfrm>
            <a:custGeom>
              <a:avLst/>
              <a:gdLst/>
              <a:ahLst/>
              <a:cxnLst/>
              <a:rect l="l" t="t" r="r" b="b"/>
              <a:pathLst>
                <a:path w="2037079" h="535304">
                  <a:moveTo>
                    <a:pt x="1982018" y="534923"/>
                  </a:moveTo>
                  <a:lnTo>
                    <a:pt x="54861" y="534923"/>
                  </a:lnTo>
                  <a:lnTo>
                    <a:pt x="33507" y="530612"/>
                  </a:lnTo>
                  <a:lnTo>
                    <a:pt x="16068" y="518855"/>
                  </a:lnTo>
                  <a:lnTo>
                    <a:pt x="4311" y="501416"/>
                  </a:lnTo>
                  <a:lnTo>
                    <a:pt x="0" y="480061"/>
                  </a:lnTo>
                  <a:lnTo>
                    <a:pt x="0" y="54861"/>
                  </a:ln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1" y="0"/>
                  </a:lnTo>
                  <a:lnTo>
                    <a:pt x="1982018" y="0"/>
                  </a:lnTo>
                  <a:lnTo>
                    <a:pt x="2020811" y="16068"/>
                  </a:lnTo>
                  <a:lnTo>
                    <a:pt x="2036880" y="54861"/>
                  </a:lnTo>
                  <a:lnTo>
                    <a:pt x="2036880" y="480061"/>
                  </a:lnTo>
                  <a:lnTo>
                    <a:pt x="2032569" y="501416"/>
                  </a:lnTo>
                  <a:lnTo>
                    <a:pt x="2020811" y="518855"/>
                  </a:lnTo>
                  <a:lnTo>
                    <a:pt x="2003373" y="530612"/>
                  </a:lnTo>
                  <a:lnTo>
                    <a:pt x="1982018" y="5349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612967" y="3415284"/>
              <a:ext cx="2037080" cy="535305"/>
            </a:xfrm>
            <a:custGeom>
              <a:avLst/>
              <a:gdLst/>
              <a:ahLst/>
              <a:cxnLst/>
              <a:rect l="l" t="t" r="r" b="b"/>
              <a:pathLst>
                <a:path w="2037079" h="535304">
                  <a:moveTo>
                    <a:pt x="0" y="54861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1" y="0"/>
                  </a:lnTo>
                  <a:lnTo>
                    <a:pt x="1982018" y="0"/>
                  </a:lnTo>
                  <a:lnTo>
                    <a:pt x="2020811" y="16068"/>
                  </a:lnTo>
                  <a:lnTo>
                    <a:pt x="2036880" y="54861"/>
                  </a:lnTo>
                  <a:lnTo>
                    <a:pt x="2036880" y="480061"/>
                  </a:lnTo>
                  <a:lnTo>
                    <a:pt x="2032569" y="501416"/>
                  </a:lnTo>
                  <a:lnTo>
                    <a:pt x="2020811" y="518855"/>
                  </a:lnTo>
                  <a:lnTo>
                    <a:pt x="2003373" y="530612"/>
                  </a:lnTo>
                  <a:lnTo>
                    <a:pt x="1982018" y="534923"/>
                  </a:lnTo>
                  <a:lnTo>
                    <a:pt x="54861" y="534923"/>
                  </a:lnTo>
                  <a:lnTo>
                    <a:pt x="33507" y="530612"/>
                  </a:lnTo>
                  <a:lnTo>
                    <a:pt x="16068" y="518855"/>
                  </a:lnTo>
                  <a:lnTo>
                    <a:pt x="4311" y="501416"/>
                  </a:lnTo>
                  <a:lnTo>
                    <a:pt x="0" y="480061"/>
                  </a:lnTo>
                  <a:lnTo>
                    <a:pt x="0" y="54861"/>
                  </a:lnTo>
                  <a:close/>
                </a:path>
              </a:pathLst>
            </a:custGeom>
            <a:ln w="9524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2717902" y="3481197"/>
            <a:ext cx="18859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125" dirty="0">
                <a:solidFill>
                  <a:srgbClr val="0B1F39"/>
                </a:solidFill>
                <a:latin typeface="Arial MT"/>
                <a:cs typeface="Arial MT"/>
              </a:rPr>
              <a:t>₨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977467" y="3498722"/>
            <a:ext cx="1413510" cy="2718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solidFill>
                  <a:srgbClr val="0B1F39"/>
                </a:solidFill>
                <a:latin typeface="Arial Black"/>
                <a:cs typeface="Arial Black"/>
              </a:rPr>
              <a:t>Revenue</a:t>
            </a:r>
            <a:endParaRPr lang="en-US" sz="800" spc="-10" dirty="0">
              <a:solidFill>
                <a:srgbClr val="0B1F39"/>
              </a:solidFill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PK" sz="800" dirty="0"/>
              <a:t>Pre-revenue (FYP prototype)</a:t>
            </a:r>
            <a:endParaRPr sz="600" dirty="0">
              <a:latin typeface="Arial MT"/>
              <a:cs typeface="Arial MT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4795965" y="3410521"/>
            <a:ext cx="2046605" cy="544830"/>
            <a:chOff x="4795965" y="3410521"/>
            <a:chExt cx="2046605" cy="544830"/>
          </a:xfrm>
        </p:grpSpPr>
        <p:sp>
          <p:nvSpPr>
            <p:cNvPr id="48" name="object 48"/>
            <p:cNvSpPr/>
            <p:nvPr/>
          </p:nvSpPr>
          <p:spPr>
            <a:xfrm>
              <a:off x="4800727" y="3415284"/>
              <a:ext cx="2037080" cy="535305"/>
            </a:xfrm>
            <a:custGeom>
              <a:avLst/>
              <a:gdLst/>
              <a:ahLst/>
              <a:cxnLst/>
              <a:rect l="l" t="t" r="r" b="b"/>
              <a:pathLst>
                <a:path w="2037079" h="535304">
                  <a:moveTo>
                    <a:pt x="1982017" y="534923"/>
                  </a:moveTo>
                  <a:lnTo>
                    <a:pt x="54861" y="534923"/>
                  </a:lnTo>
                  <a:lnTo>
                    <a:pt x="33507" y="530612"/>
                  </a:lnTo>
                  <a:lnTo>
                    <a:pt x="16068" y="518855"/>
                  </a:lnTo>
                  <a:lnTo>
                    <a:pt x="4311" y="501416"/>
                  </a:lnTo>
                  <a:lnTo>
                    <a:pt x="0" y="480061"/>
                  </a:lnTo>
                  <a:lnTo>
                    <a:pt x="0" y="54861"/>
                  </a:ln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1" y="0"/>
                  </a:lnTo>
                  <a:lnTo>
                    <a:pt x="1982017" y="0"/>
                  </a:lnTo>
                  <a:lnTo>
                    <a:pt x="2020811" y="16068"/>
                  </a:lnTo>
                  <a:lnTo>
                    <a:pt x="2036880" y="54861"/>
                  </a:lnTo>
                  <a:lnTo>
                    <a:pt x="2036880" y="480061"/>
                  </a:lnTo>
                  <a:lnTo>
                    <a:pt x="2032569" y="501416"/>
                  </a:lnTo>
                  <a:lnTo>
                    <a:pt x="2020811" y="518855"/>
                  </a:lnTo>
                  <a:lnTo>
                    <a:pt x="2003373" y="530612"/>
                  </a:lnTo>
                  <a:lnTo>
                    <a:pt x="1982017" y="5349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800727" y="3415284"/>
              <a:ext cx="2037080" cy="535305"/>
            </a:xfrm>
            <a:custGeom>
              <a:avLst/>
              <a:gdLst/>
              <a:ahLst/>
              <a:cxnLst/>
              <a:rect l="l" t="t" r="r" b="b"/>
              <a:pathLst>
                <a:path w="2037079" h="535304">
                  <a:moveTo>
                    <a:pt x="0" y="54861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1" y="0"/>
                  </a:lnTo>
                  <a:lnTo>
                    <a:pt x="1982017" y="0"/>
                  </a:lnTo>
                  <a:lnTo>
                    <a:pt x="2020811" y="16068"/>
                  </a:lnTo>
                  <a:lnTo>
                    <a:pt x="2036880" y="54861"/>
                  </a:lnTo>
                  <a:lnTo>
                    <a:pt x="2036880" y="480061"/>
                  </a:lnTo>
                  <a:lnTo>
                    <a:pt x="2032569" y="501416"/>
                  </a:lnTo>
                  <a:lnTo>
                    <a:pt x="2020811" y="518855"/>
                  </a:lnTo>
                  <a:lnTo>
                    <a:pt x="2003373" y="530612"/>
                  </a:lnTo>
                  <a:lnTo>
                    <a:pt x="1982017" y="534923"/>
                  </a:lnTo>
                  <a:lnTo>
                    <a:pt x="54861" y="534923"/>
                  </a:lnTo>
                  <a:lnTo>
                    <a:pt x="33507" y="530612"/>
                  </a:lnTo>
                  <a:lnTo>
                    <a:pt x="16068" y="518855"/>
                  </a:lnTo>
                  <a:lnTo>
                    <a:pt x="4311" y="501416"/>
                  </a:lnTo>
                  <a:lnTo>
                    <a:pt x="0" y="480061"/>
                  </a:lnTo>
                  <a:lnTo>
                    <a:pt x="0" y="54861"/>
                  </a:lnTo>
                  <a:close/>
                </a:path>
              </a:pathLst>
            </a:custGeom>
            <a:ln w="9524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12706" y="3504084"/>
              <a:ext cx="173819" cy="163594"/>
            </a:xfrm>
            <a:prstGeom prst="rect">
              <a:avLst/>
            </a:prstGeom>
          </p:spPr>
        </p:pic>
      </p:grpSp>
      <p:sp>
        <p:nvSpPr>
          <p:cNvPr id="51" name="object 51"/>
          <p:cNvSpPr txBox="1"/>
          <p:nvPr/>
        </p:nvSpPr>
        <p:spPr>
          <a:xfrm>
            <a:off x="5165228" y="3498722"/>
            <a:ext cx="1616572" cy="457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40" dirty="0">
                <a:solidFill>
                  <a:srgbClr val="0B1F39"/>
                </a:solidFill>
                <a:latin typeface="Arial Black"/>
                <a:cs typeface="Arial Black"/>
              </a:rPr>
              <a:t>Most</a:t>
            </a:r>
            <a:r>
              <a:rPr sz="800" spc="-55" dirty="0">
                <a:solidFill>
                  <a:srgbClr val="0B1F39"/>
                </a:solidFill>
                <a:latin typeface="Arial Black"/>
                <a:cs typeface="Arial Black"/>
              </a:rPr>
              <a:t> </a:t>
            </a:r>
            <a:r>
              <a:rPr sz="800" spc="-25" dirty="0">
                <a:solidFill>
                  <a:srgbClr val="0B1F39"/>
                </a:solidFill>
                <a:latin typeface="Arial Black"/>
                <a:cs typeface="Arial Black"/>
              </a:rPr>
              <a:t>Innovative</a:t>
            </a:r>
            <a:r>
              <a:rPr sz="800" spc="-50" dirty="0">
                <a:solidFill>
                  <a:srgbClr val="0B1F39"/>
                </a:solidFill>
                <a:latin typeface="Arial Black"/>
                <a:cs typeface="Arial Black"/>
              </a:rPr>
              <a:t> </a:t>
            </a:r>
            <a:r>
              <a:rPr sz="800" spc="-25" dirty="0">
                <a:solidFill>
                  <a:srgbClr val="0B1F39"/>
                </a:solidFill>
                <a:latin typeface="Arial Black"/>
                <a:cs typeface="Arial Black"/>
              </a:rPr>
              <a:t>Feature</a:t>
            </a:r>
            <a:endParaRPr lang="en-US" sz="800" spc="-25" dirty="0">
              <a:solidFill>
                <a:srgbClr val="0B1F39"/>
              </a:solidFill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PK" sz="800" dirty="0"/>
              <a:t>Human-approved AI knowledge graph </a:t>
            </a:r>
            <a:endParaRPr sz="600" dirty="0">
              <a:latin typeface="Arial MT"/>
              <a:cs typeface="Arial MT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6983725" y="3410521"/>
            <a:ext cx="2046605" cy="544830"/>
            <a:chOff x="6983725" y="3410521"/>
            <a:chExt cx="2046605" cy="544830"/>
          </a:xfrm>
        </p:grpSpPr>
        <p:sp>
          <p:nvSpPr>
            <p:cNvPr id="53" name="object 53"/>
            <p:cNvSpPr/>
            <p:nvPr/>
          </p:nvSpPr>
          <p:spPr>
            <a:xfrm>
              <a:off x="6988488" y="3415284"/>
              <a:ext cx="2037080" cy="535305"/>
            </a:xfrm>
            <a:custGeom>
              <a:avLst/>
              <a:gdLst/>
              <a:ahLst/>
              <a:cxnLst/>
              <a:rect l="l" t="t" r="r" b="b"/>
              <a:pathLst>
                <a:path w="2037079" h="535304">
                  <a:moveTo>
                    <a:pt x="1982018" y="534923"/>
                  </a:moveTo>
                  <a:lnTo>
                    <a:pt x="54861" y="534923"/>
                  </a:lnTo>
                  <a:lnTo>
                    <a:pt x="33507" y="530612"/>
                  </a:lnTo>
                  <a:lnTo>
                    <a:pt x="16068" y="518855"/>
                  </a:lnTo>
                  <a:lnTo>
                    <a:pt x="4311" y="501416"/>
                  </a:lnTo>
                  <a:lnTo>
                    <a:pt x="0" y="480061"/>
                  </a:lnTo>
                  <a:lnTo>
                    <a:pt x="0" y="54861"/>
                  </a:ln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1" y="0"/>
                  </a:lnTo>
                  <a:lnTo>
                    <a:pt x="1982018" y="0"/>
                  </a:lnTo>
                  <a:lnTo>
                    <a:pt x="2020811" y="16068"/>
                  </a:lnTo>
                  <a:lnTo>
                    <a:pt x="2036880" y="54861"/>
                  </a:lnTo>
                  <a:lnTo>
                    <a:pt x="2036880" y="480061"/>
                  </a:lnTo>
                  <a:lnTo>
                    <a:pt x="2032569" y="501416"/>
                  </a:lnTo>
                  <a:lnTo>
                    <a:pt x="2020811" y="518855"/>
                  </a:lnTo>
                  <a:lnTo>
                    <a:pt x="2003373" y="530612"/>
                  </a:lnTo>
                  <a:lnTo>
                    <a:pt x="1982018" y="5349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988488" y="3415284"/>
              <a:ext cx="2037080" cy="535305"/>
            </a:xfrm>
            <a:custGeom>
              <a:avLst/>
              <a:gdLst/>
              <a:ahLst/>
              <a:cxnLst/>
              <a:rect l="l" t="t" r="r" b="b"/>
              <a:pathLst>
                <a:path w="2037079" h="535304">
                  <a:moveTo>
                    <a:pt x="0" y="54861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1" y="0"/>
                  </a:lnTo>
                  <a:lnTo>
                    <a:pt x="1982018" y="0"/>
                  </a:lnTo>
                  <a:lnTo>
                    <a:pt x="2020811" y="16068"/>
                  </a:lnTo>
                  <a:lnTo>
                    <a:pt x="2036880" y="54861"/>
                  </a:lnTo>
                  <a:lnTo>
                    <a:pt x="2036880" y="480061"/>
                  </a:lnTo>
                  <a:lnTo>
                    <a:pt x="2032569" y="501416"/>
                  </a:lnTo>
                  <a:lnTo>
                    <a:pt x="2020811" y="518855"/>
                  </a:lnTo>
                  <a:lnTo>
                    <a:pt x="2003373" y="530612"/>
                  </a:lnTo>
                  <a:lnTo>
                    <a:pt x="1982018" y="534923"/>
                  </a:lnTo>
                  <a:lnTo>
                    <a:pt x="54861" y="534923"/>
                  </a:lnTo>
                  <a:lnTo>
                    <a:pt x="33507" y="530612"/>
                  </a:lnTo>
                  <a:lnTo>
                    <a:pt x="16068" y="518855"/>
                  </a:lnTo>
                  <a:lnTo>
                    <a:pt x="4311" y="501416"/>
                  </a:lnTo>
                  <a:lnTo>
                    <a:pt x="0" y="480061"/>
                  </a:lnTo>
                  <a:lnTo>
                    <a:pt x="0" y="54861"/>
                  </a:lnTo>
                  <a:close/>
                </a:path>
              </a:pathLst>
            </a:custGeom>
            <a:ln w="9524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7103238" y="3481197"/>
            <a:ext cx="16510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solidFill>
                  <a:srgbClr val="0B1F39"/>
                </a:solidFill>
                <a:latin typeface="MS PGothic"/>
                <a:cs typeface="MS PGothic"/>
              </a:rPr>
              <a:t>✓</a:t>
            </a:r>
            <a:endParaRPr sz="1100">
              <a:latin typeface="MS PGothic"/>
              <a:cs typeface="MS PGothic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345177" y="3451099"/>
            <a:ext cx="1672580" cy="5669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60" dirty="0">
                <a:solidFill>
                  <a:srgbClr val="0B1F39"/>
                </a:solidFill>
                <a:latin typeface="Arial Black"/>
                <a:cs typeface="Arial Black"/>
              </a:rPr>
              <a:t>Licenses</a:t>
            </a:r>
            <a:r>
              <a:rPr sz="800" spc="-75" dirty="0">
                <a:solidFill>
                  <a:srgbClr val="0B1F39"/>
                </a:solidFill>
                <a:latin typeface="Arial Black"/>
                <a:cs typeface="Arial Black"/>
              </a:rPr>
              <a:t> </a:t>
            </a:r>
            <a:r>
              <a:rPr sz="800" spc="135" dirty="0">
                <a:solidFill>
                  <a:srgbClr val="0B1F39"/>
                </a:solidFill>
                <a:latin typeface="Arial Black"/>
                <a:cs typeface="Arial Black"/>
              </a:rPr>
              <a:t>/</a:t>
            </a:r>
            <a:r>
              <a:rPr sz="800" spc="-75" dirty="0">
                <a:solidFill>
                  <a:srgbClr val="0B1F39"/>
                </a:solidFill>
                <a:latin typeface="Arial Black"/>
                <a:cs typeface="Arial Black"/>
              </a:rPr>
              <a:t> </a:t>
            </a:r>
            <a:r>
              <a:rPr sz="800" spc="-25" dirty="0">
                <a:solidFill>
                  <a:srgbClr val="0B1F39"/>
                </a:solidFill>
                <a:latin typeface="Arial Black"/>
                <a:cs typeface="Arial Black"/>
              </a:rPr>
              <a:t>Certifications</a:t>
            </a:r>
            <a:endParaRPr sz="800" dirty="0">
              <a:latin typeface="Arial Black"/>
              <a:cs typeface="Arial Black"/>
            </a:endParaRPr>
          </a:p>
          <a:p>
            <a:pPr marL="12700" marR="26034">
              <a:lnSpc>
                <a:spcPct val="100000"/>
              </a:lnSpc>
              <a:spcBef>
                <a:spcPts val="509"/>
              </a:spcBef>
            </a:pPr>
            <a:r>
              <a:rPr lang="en-PK" sz="800" dirty="0"/>
              <a:t>None formal — aligned to HEC CLO/PLO standards</a:t>
            </a:r>
            <a:endParaRPr sz="600" dirty="0">
              <a:latin typeface="Arial MT"/>
              <a:cs typeface="Arial MT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418885" y="4066148"/>
            <a:ext cx="7537820" cy="294393"/>
          </a:xfrm>
          <a:custGeom>
            <a:avLst/>
            <a:gdLst/>
            <a:ahLst/>
            <a:cxnLst/>
            <a:rect l="l" t="t" r="r" b="b"/>
            <a:pathLst>
              <a:path w="8312150" h="466725">
                <a:moveTo>
                  <a:pt x="8257252" y="466343"/>
                </a:moveTo>
                <a:lnTo>
                  <a:pt x="54865" y="466343"/>
                </a:lnTo>
                <a:lnTo>
                  <a:pt x="33509" y="462032"/>
                </a:lnTo>
                <a:lnTo>
                  <a:pt x="16069" y="450274"/>
                </a:lnTo>
                <a:lnTo>
                  <a:pt x="4311" y="432834"/>
                </a:lnTo>
                <a:lnTo>
                  <a:pt x="0" y="411478"/>
                </a:lnTo>
                <a:lnTo>
                  <a:pt x="0" y="54865"/>
                </a:lnTo>
                <a:lnTo>
                  <a:pt x="4311" y="33509"/>
                </a:lnTo>
                <a:lnTo>
                  <a:pt x="16069" y="16069"/>
                </a:lnTo>
                <a:lnTo>
                  <a:pt x="33509" y="4311"/>
                </a:lnTo>
                <a:lnTo>
                  <a:pt x="54865" y="0"/>
                </a:lnTo>
                <a:lnTo>
                  <a:pt x="8257252" y="0"/>
                </a:lnTo>
                <a:lnTo>
                  <a:pt x="8296048" y="16069"/>
                </a:lnTo>
                <a:lnTo>
                  <a:pt x="8312117" y="54865"/>
                </a:lnTo>
                <a:lnTo>
                  <a:pt x="8312117" y="411478"/>
                </a:lnTo>
                <a:lnTo>
                  <a:pt x="8307806" y="432834"/>
                </a:lnTo>
                <a:lnTo>
                  <a:pt x="8296047" y="450274"/>
                </a:lnTo>
                <a:lnTo>
                  <a:pt x="8278608" y="462032"/>
                </a:lnTo>
                <a:lnTo>
                  <a:pt x="8257252" y="466343"/>
                </a:lnTo>
                <a:close/>
              </a:path>
            </a:pathLst>
          </a:custGeom>
          <a:solidFill>
            <a:srgbClr val="90D1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479051" y="4141279"/>
            <a:ext cx="8185897" cy="2560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beyond the classroom — </a:t>
            </a: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feedback from IEEE reviewer, our department HOD, and a professor from MBZUAI.</a:t>
            </a:r>
            <a:endParaRPr lang="en-US" sz="1000" dirty="0">
              <a:solidFill>
                <a:schemeClr val="tx1"/>
              </a:solidFill>
            </a:endParaRPr>
          </a:p>
        </p:txBody>
      </p:sp>
      <p:pic>
        <p:nvPicPr>
          <p:cNvPr id="59" name="object 5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956705" y="217700"/>
            <a:ext cx="906993" cy="426975"/>
          </a:xfrm>
          <a:prstGeom prst="rect">
            <a:avLst/>
          </a:prstGeom>
        </p:spPr>
      </p:pic>
      <p:sp>
        <p:nvSpPr>
          <p:cNvPr id="60" name="object 6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204" dirty="0"/>
              <a:t> </a:t>
            </a:r>
            <a:r>
              <a:rPr spc="-100" dirty="0"/>
              <a:t>is</a:t>
            </a:r>
            <a:r>
              <a:rPr spc="-204" dirty="0"/>
              <a:t> </a:t>
            </a:r>
            <a:r>
              <a:rPr spc="-20" dirty="0"/>
              <a:t>your</a:t>
            </a:r>
            <a:r>
              <a:rPr spc="-204" dirty="0"/>
              <a:t> </a:t>
            </a:r>
            <a:r>
              <a:rPr spc="-45" dirty="0"/>
              <a:t>product</a:t>
            </a:r>
            <a:r>
              <a:rPr spc="-204" dirty="0"/>
              <a:t> </a:t>
            </a:r>
            <a:r>
              <a:rPr spc="-20" dirty="0"/>
              <a:t>ready</a:t>
            </a:r>
            <a:r>
              <a:rPr spc="-204" dirty="0"/>
              <a:t> </a:t>
            </a:r>
            <a:r>
              <a:rPr spc="-50" dirty="0"/>
              <a:t>for</a:t>
            </a:r>
            <a:r>
              <a:rPr spc="-204" dirty="0"/>
              <a:t> </a:t>
            </a:r>
            <a:r>
              <a:rPr spc="-65" dirty="0"/>
              <a:t>the</a:t>
            </a:r>
            <a:r>
              <a:rPr spc="-204" dirty="0"/>
              <a:t> </a:t>
            </a:r>
            <a:r>
              <a:rPr spc="-25" dirty="0"/>
              <a:t>P@SHA</a:t>
            </a:r>
            <a:r>
              <a:rPr spc="-204" dirty="0"/>
              <a:t> </a:t>
            </a:r>
            <a:r>
              <a:rPr spc="-170" dirty="0"/>
              <a:t>ICT</a:t>
            </a:r>
            <a:r>
              <a:rPr spc="-200" dirty="0"/>
              <a:t> </a:t>
            </a:r>
            <a:r>
              <a:rPr spc="-45" dirty="0"/>
              <a:t>Awards?</a:t>
            </a:r>
          </a:p>
        </p:txBody>
      </p:sp>
      <p:sp>
        <p:nvSpPr>
          <p:cNvPr id="4" name="object 4"/>
          <p:cNvSpPr/>
          <p:nvPr/>
        </p:nvSpPr>
        <p:spPr>
          <a:xfrm>
            <a:off x="398790" y="828388"/>
            <a:ext cx="8312150" cy="521334"/>
          </a:xfrm>
          <a:custGeom>
            <a:avLst/>
            <a:gdLst/>
            <a:ahLst/>
            <a:cxnLst/>
            <a:rect l="l" t="t" r="r" b="b"/>
            <a:pathLst>
              <a:path w="8312150" h="521334">
                <a:moveTo>
                  <a:pt x="8257255" y="521207"/>
                </a:moveTo>
                <a:lnTo>
                  <a:pt x="54862" y="521207"/>
                </a:lnTo>
                <a:lnTo>
                  <a:pt x="33507" y="516896"/>
                </a:lnTo>
                <a:lnTo>
                  <a:pt x="16068" y="505139"/>
                </a:lnTo>
                <a:lnTo>
                  <a:pt x="4311" y="487700"/>
                </a:lnTo>
                <a:lnTo>
                  <a:pt x="0" y="466345"/>
                </a:lnTo>
                <a:lnTo>
                  <a:pt x="0" y="54862"/>
                </a:lnTo>
                <a:lnTo>
                  <a:pt x="4311" y="33507"/>
                </a:lnTo>
                <a:lnTo>
                  <a:pt x="16068" y="16068"/>
                </a:lnTo>
                <a:lnTo>
                  <a:pt x="33507" y="4311"/>
                </a:lnTo>
                <a:lnTo>
                  <a:pt x="54862" y="0"/>
                </a:lnTo>
                <a:lnTo>
                  <a:pt x="8257255" y="0"/>
                </a:lnTo>
                <a:lnTo>
                  <a:pt x="8296048" y="16068"/>
                </a:lnTo>
                <a:lnTo>
                  <a:pt x="8312117" y="54862"/>
                </a:lnTo>
                <a:lnTo>
                  <a:pt x="8312117" y="466345"/>
                </a:lnTo>
                <a:lnTo>
                  <a:pt x="8307806" y="487700"/>
                </a:lnTo>
                <a:lnTo>
                  <a:pt x="8296048" y="505139"/>
                </a:lnTo>
                <a:lnTo>
                  <a:pt x="8278610" y="516896"/>
                </a:lnTo>
                <a:lnTo>
                  <a:pt x="8257255" y="521207"/>
                </a:lnTo>
                <a:close/>
              </a:path>
            </a:pathLst>
          </a:custGeom>
          <a:solidFill>
            <a:srgbClr val="90D11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562370" y="903622"/>
            <a:ext cx="7965704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0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ready because we replace one-size-fits-all courseware with a governed AI knowledge graph, proven by three real university subjects tracked end-to-end, supported by human approval gates and a hallucination-mitigation RAG pipeline, and scalable to every HEC university that needs this.</a:t>
            </a:r>
            <a:endParaRPr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03865" y="1423330"/>
            <a:ext cx="4012565" cy="1228428"/>
            <a:chOff x="425207" y="1859736"/>
            <a:chExt cx="4012565" cy="883464"/>
          </a:xfrm>
        </p:grpSpPr>
        <p:sp>
          <p:nvSpPr>
            <p:cNvPr id="8" name="object 8"/>
            <p:cNvSpPr/>
            <p:nvPr/>
          </p:nvSpPr>
          <p:spPr>
            <a:xfrm>
              <a:off x="425207" y="1859736"/>
              <a:ext cx="4012565" cy="883464"/>
            </a:xfrm>
            <a:custGeom>
              <a:avLst/>
              <a:gdLst/>
              <a:ahLst/>
              <a:cxnLst/>
              <a:rect l="l" t="t" r="r" b="b"/>
              <a:pathLst>
                <a:path w="4012565" h="720089">
                  <a:moveTo>
                    <a:pt x="3957173" y="720089"/>
                  </a:moveTo>
                  <a:lnTo>
                    <a:pt x="54863" y="720089"/>
                  </a:lnTo>
                  <a:lnTo>
                    <a:pt x="33508" y="715778"/>
                  </a:lnTo>
                  <a:lnTo>
                    <a:pt x="16069" y="704020"/>
                  </a:lnTo>
                  <a:lnTo>
                    <a:pt x="4311" y="686581"/>
                  </a:lnTo>
                  <a:lnTo>
                    <a:pt x="0" y="665226"/>
                  </a:lnTo>
                  <a:lnTo>
                    <a:pt x="0" y="54863"/>
                  </a:lnTo>
                  <a:lnTo>
                    <a:pt x="4311" y="33508"/>
                  </a:lnTo>
                  <a:lnTo>
                    <a:pt x="16069" y="16069"/>
                  </a:lnTo>
                  <a:lnTo>
                    <a:pt x="33508" y="4311"/>
                  </a:lnTo>
                  <a:lnTo>
                    <a:pt x="54863" y="0"/>
                  </a:lnTo>
                  <a:lnTo>
                    <a:pt x="3957173" y="0"/>
                  </a:lnTo>
                  <a:lnTo>
                    <a:pt x="3995967" y="16069"/>
                  </a:lnTo>
                  <a:lnTo>
                    <a:pt x="4012036" y="54863"/>
                  </a:lnTo>
                  <a:lnTo>
                    <a:pt x="4012036" y="665226"/>
                  </a:lnTo>
                  <a:lnTo>
                    <a:pt x="4007725" y="686581"/>
                  </a:lnTo>
                  <a:lnTo>
                    <a:pt x="3995967" y="704020"/>
                  </a:lnTo>
                  <a:lnTo>
                    <a:pt x="3978528" y="715778"/>
                  </a:lnTo>
                  <a:lnTo>
                    <a:pt x="3957173" y="7200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8952" y="1959317"/>
              <a:ext cx="246894" cy="152051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580100" y="1593847"/>
            <a:ext cx="819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50" dirty="0">
                <a:latin typeface="Arial"/>
                <a:cs typeface="Arial"/>
              </a:rPr>
              <a:t>1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09264" y="1518663"/>
            <a:ext cx="3446615" cy="9618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0B1F39"/>
                </a:solidFill>
                <a:latin typeface="Arial Black"/>
                <a:cs typeface="Arial Black"/>
              </a:rPr>
              <a:t>Uniqueness</a:t>
            </a:r>
            <a:endParaRPr sz="1200" dirty="0">
              <a:latin typeface="Arial Black"/>
              <a:cs typeface="Arial Black"/>
            </a:endParaRPr>
          </a:p>
          <a:p>
            <a:pPr lvl="0" algn="just" rtl="0">
              <a:spcBef>
                <a:spcPts val="100"/>
              </a:spcBef>
            </a:pP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PK" sz="800" dirty="0" err="1">
                <a:latin typeface="Arial" panose="020B0604020202020204" pitchFamily="34" charset="0"/>
                <a:cs typeface="Arial" panose="020B0604020202020204" pitchFamily="34" charset="0"/>
              </a:rPr>
              <a:t>eacher's</a:t>
            </a:r>
            <a:r>
              <a:rPr lang="en-PK" sz="800" dirty="0">
                <a:latin typeface="Arial" panose="020B0604020202020204" pitchFamily="34" charset="0"/>
                <a:cs typeface="Arial" panose="020B0604020202020204" pitchFamily="34" charset="0"/>
              </a:rPr>
              <a:t> own material becomes a live, editable knowledge graph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lvl="0" algn="just" rtl="0">
              <a:spcBef>
                <a:spcPts val="100"/>
              </a:spcBef>
            </a:pPr>
            <a:r>
              <a:rPr lang="en-PK" sz="800" dirty="0">
                <a:latin typeface="Arial" panose="020B0604020202020204" pitchFamily="34" charset="0"/>
                <a:cs typeface="Arial" panose="020B0604020202020204" pitchFamily="34" charset="0"/>
              </a:rPr>
              <a:t>Two-stage human approval (teacher → coordinator) before any AI-proposed concept or grade reaches a </a:t>
            </a:r>
            <a:r>
              <a:rPr lang="en-PK" sz="800" dirty="0" err="1">
                <a:latin typeface="Arial" panose="020B0604020202020204" pitchFamily="34" charset="0"/>
                <a:cs typeface="Arial" panose="020B0604020202020204" pitchFamily="34" charset="0"/>
              </a:rPr>
              <a:t>studen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t.</a:t>
            </a:r>
            <a:endParaRPr lang="en-PK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 rtl="0"/>
            <a:r>
              <a:rPr lang="en-PK" sz="800" dirty="0">
                <a:latin typeface="Arial" panose="020B0604020202020204" pitchFamily="34" charset="0"/>
                <a:cs typeface="Arial" panose="020B0604020202020204" pitchFamily="34" charset="0"/>
              </a:rPr>
              <a:t>ChatGPT explain concepts but have no idea what your course covers or where you're stuck </a:t>
            </a:r>
            <a:r>
              <a:rPr lang="en-PK" sz="800" dirty="0" err="1">
                <a:latin typeface="Arial" panose="020B0604020202020204" pitchFamily="34" charset="0"/>
                <a:cs typeface="Arial" panose="020B0604020202020204" pitchFamily="34" charset="0"/>
              </a:rPr>
              <a:t>ConceptIntel</a:t>
            </a:r>
            <a:r>
              <a:rPr lang="en-PK" sz="800" dirty="0">
                <a:latin typeface="Arial" panose="020B0604020202020204" pitchFamily="34" charset="0"/>
                <a:cs typeface="Arial" panose="020B0604020202020204" pitchFamily="34" charset="0"/>
              </a:rPr>
              <a:t> is grounded in the course's own material.</a:t>
            </a:r>
          </a:p>
          <a:p>
            <a:pPr lvl="0" algn="just" rtl="0"/>
            <a:r>
              <a:rPr lang="en-PK" sz="800" dirty="0">
                <a:latin typeface="Arial" panose="020B0604020202020204" pitchFamily="34" charset="0"/>
                <a:cs typeface="Arial" panose="020B0604020202020204" pitchFamily="34" charset="0"/>
              </a:rPr>
              <a:t>Built around </a:t>
            </a:r>
            <a:r>
              <a:rPr lang="en-PK" sz="800" dirty="0" err="1">
                <a:latin typeface="Arial" panose="020B0604020202020204" pitchFamily="34" charset="0"/>
                <a:cs typeface="Arial" panose="020B0604020202020204" pitchFamily="34" charset="0"/>
              </a:rPr>
              <a:t>HEC's</a:t>
            </a:r>
            <a:r>
              <a:rPr lang="en-PK" sz="800" dirty="0">
                <a:latin typeface="Arial" panose="020B0604020202020204" pitchFamily="34" charset="0"/>
                <a:cs typeface="Arial" panose="020B0604020202020204" pitchFamily="34" charset="0"/>
              </a:rPr>
              <a:t> own CLO/PLO course-outline format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PK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661278" y="1423332"/>
            <a:ext cx="4078857" cy="1228428"/>
            <a:chOff x="4661278" y="1423332"/>
            <a:chExt cx="4012565" cy="1228428"/>
          </a:xfrm>
        </p:grpSpPr>
        <p:sp>
          <p:nvSpPr>
            <p:cNvPr id="14" name="object 14"/>
            <p:cNvSpPr/>
            <p:nvPr/>
          </p:nvSpPr>
          <p:spPr>
            <a:xfrm>
              <a:off x="4661278" y="1423332"/>
              <a:ext cx="4012565" cy="1228428"/>
            </a:xfrm>
            <a:custGeom>
              <a:avLst/>
              <a:gdLst/>
              <a:ahLst/>
              <a:cxnLst/>
              <a:rect l="l" t="t" r="r" b="b"/>
              <a:pathLst>
                <a:path w="4012565" h="720089">
                  <a:moveTo>
                    <a:pt x="3957173" y="720089"/>
                  </a:moveTo>
                  <a:lnTo>
                    <a:pt x="54863" y="720089"/>
                  </a:lnTo>
                  <a:lnTo>
                    <a:pt x="33508" y="715778"/>
                  </a:lnTo>
                  <a:lnTo>
                    <a:pt x="16069" y="704020"/>
                  </a:lnTo>
                  <a:lnTo>
                    <a:pt x="4311" y="686581"/>
                  </a:lnTo>
                  <a:lnTo>
                    <a:pt x="0" y="665226"/>
                  </a:lnTo>
                  <a:lnTo>
                    <a:pt x="0" y="54863"/>
                  </a:lnTo>
                  <a:lnTo>
                    <a:pt x="4311" y="33508"/>
                  </a:lnTo>
                  <a:lnTo>
                    <a:pt x="16069" y="16069"/>
                  </a:lnTo>
                  <a:lnTo>
                    <a:pt x="33508" y="4311"/>
                  </a:lnTo>
                  <a:lnTo>
                    <a:pt x="54863" y="0"/>
                  </a:lnTo>
                  <a:lnTo>
                    <a:pt x="3957173" y="0"/>
                  </a:lnTo>
                  <a:lnTo>
                    <a:pt x="3995967" y="16069"/>
                  </a:lnTo>
                  <a:lnTo>
                    <a:pt x="4012036" y="54863"/>
                  </a:lnTo>
                  <a:lnTo>
                    <a:pt x="4012036" y="665226"/>
                  </a:lnTo>
                  <a:lnTo>
                    <a:pt x="4007725" y="686581"/>
                  </a:lnTo>
                  <a:lnTo>
                    <a:pt x="3995967" y="704020"/>
                  </a:lnTo>
                  <a:lnTo>
                    <a:pt x="3978528" y="715778"/>
                  </a:lnTo>
                  <a:lnTo>
                    <a:pt x="3957173" y="7200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74193" y="1548326"/>
              <a:ext cx="246894" cy="246887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4856203" y="1602033"/>
            <a:ext cx="819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50" dirty="0">
                <a:latin typeface="Arial"/>
                <a:cs typeface="Arial"/>
              </a:rPr>
              <a:t>2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078710" y="1484918"/>
            <a:ext cx="3382645" cy="9618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45" dirty="0">
                <a:solidFill>
                  <a:srgbClr val="0B1F39"/>
                </a:solidFill>
                <a:latin typeface="Arial Black"/>
                <a:cs typeface="Arial Black"/>
              </a:rPr>
              <a:t>Market</a:t>
            </a:r>
            <a:r>
              <a:rPr sz="1200" spc="-114" dirty="0">
                <a:solidFill>
                  <a:srgbClr val="0B1F39"/>
                </a:solidFill>
                <a:latin typeface="Arial Black"/>
                <a:cs typeface="Arial Black"/>
              </a:rPr>
              <a:t> </a:t>
            </a:r>
            <a:r>
              <a:rPr sz="1200" spc="-10" dirty="0">
                <a:solidFill>
                  <a:srgbClr val="0B1F39"/>
                </a:solidFill>
                <a:latin typeface="Arial Black"/>
                <a:cs typeface="Arial Black"/>
              </a:rPr>
              <a:t>Potential</a:t>
            </a:r>
            <a:endParaRPr sz="1200" dirty="0">
              <a:latin typeface="Arial Black"/>
              <a:cs typeface="Arial Black"/>
            </a:endParaRPr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Target market: every HEC university with prerequisite-heavy STEM courses, starting with our own CS and Engineering departments. Business model: per-institution SaaS, layered on top of the LMS a university already pays for</a:t>
            </a:r>
            <a:r>
              <a:rPr lang="en-US" sz="800" dirty="0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Growth: each knowledge graph is reused every semester</a:t>
            </a:r>
            <a:r>
              <a:rPr lang="en-US" sz="800" dirty="0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800" dirty="0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second and third cohort onboard almost for free.</a:t>
            </a:r>
            <a:endParaRPr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73853" y="2771170"/>
            <a:ext cx="4012565" cy="943580"/>
            <a:chOff x="395845" y="2697480"/>
            <a:chExt cx="4012565" cy="1463040"/>
          </a:xfrm>
        </p:grpSpPr>
        <p:sp>
          <p:nvSpPr>
            <p:cNvPr id="20" name="object 20"/>
            <p:cNvSpPr/>
            <p:nvPr/>
          </p:nvSpPr>
          <p:spPr>
            <a:xfrm>
              <a:off x="395845" y="2697480"/>
              <a:ext cx="4012565" cy="1463040"/>
            </a:xfrm>
            <a:custGeom>
              <a:avLst/>
              <a:gdLst/>
              <a:ahLst/>
              <a:cxnLst/>
              <a:rect l="l" t="t" r="r" b="b"/>
              <a:pathLst>
                <a:path w="4012565" h="720089">
                  <a:moveTo>
                    <a:pt x="3957173" y="720089"/>
                  </a:moveTo>
                  <a:lnTo>
                    <a:pt x="54863" y="720089"/>
                  </a:lnTo>
                  <a:lnTo>
                    <a:pt x="33508" y="715778"/>
                  </a:lnTo>
                  <a:lnTo>
                    <a:pt x="16069" y="704020"/>
                  </a:lnTo>
                  <a:lnTo>
                    <a:pt x="4311" y="686581"/>
                  </a:lnTo>
                  <a:lnTo>
                    <a:pt x="0" y="665226"/>
                  </a:lnTo>
                  <a:lnTo>
                    <a:pt x="0" y="54863"/>
                  </a:lnTo>
                  <a:lnTo>
                    <a:pt x="4311" y="33508"/>
                  </a:lnTo>
                  <a:lnTo>
                    <a:pt x="16069" y="16069"/>
                  </a:lnTo>
                  <a:lnTo>
                    <a:pt x="33508" y="4311"/>
                  </a:lnTo>
                  <a:lnTo>
                    <a:pt x="54863" y="0"/>
                  </a:lnTo>
                  <a:lnTo>
                    <a:pt x="3957173" y="0"/>
                  </a:lnTo>
                  <a:lnTo>
                    <a:pt x="3995967" y="16069"/>
                  </a:lnTo>
                  <a:lnTo>
                    <a:pt x="4012036" y="54863"/>
                  </a:lnTo>
                  <a:lnTo>
                    <a:pt x="4012036" y="665226"/>
                  </a:lnTo>
                  <a:lnTo>
                    <a:pt x="4007725" y="686581"/>
                  </a:lnTo>
                  <a:lnTo>
                    <a:pt x="3995967" y="704020"/>
                  </a:lnTo>
                  <a:lnTo>
                    <a:pt x="3978528" y="715778"/>
                  </a:lnTo>
                  <a:lnTo>
                    <a:pt x="3957173" y="7200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8607" y="2854033"/>
              <a:ext cx="233050" cy="321114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809264" y="2818916"/>
            <a:ext cx="3308985" cy="8258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6379" algn="l"/>
              </a:tabLst>
            </a:pPr>
            <a:r>
              <a:rPr sz="1800" spc="-82" baseline="4629" dirty="0">
                <a:solidFill>
                  <a:srgbClr val="0B1F39"/>
                </a:solidFill>
                <a:latin typeface="Arial Black"/>
                <a:cs typeface="Arial Black"/>
              </a:rPr>
              <a:t>Functionalities</a:t>
            </a:r>
            <a:r>
              <a:rPr sz="1800" spc="-120" baseline="4629" dirty="0">
                <a:solidFill>
                  <a:srgbClr val="0B1F39"/>
                </a:solidFill>
                <a:latin typeface="Arial Black"/>
                <a:cs typeface="Arial Black"/>
              </a:rPr>
              <a:t> </a:t>
            </a:r>
            <a:r>
              <a:rPr sz="1800" spc="-172" baseline="4629" dirty="0">
                <a:solidFill>
                  <a:srgbClr val="0B1F39"/>
                </a:solidFill>
                <a:latin typeface="Arial Black"/>
                <a:cs typeface="Arial Black"/>
              </a:rPr>
              <a:t>&amp;</a:t>
            </a:r>
            <a:r>
              <a:rPr sz="1800" spc="-112" baseline="4629" dirty="0">
                <a:solidFill>
                  <a:srgbClr val="0B1F39"/>
                </a:solidFill>
                <a:latin typeface="Arial Black"/>
                <a:cs typeface="Arial Black"/>
              </a:rPr>
              <a:t> </a:t>
            </a:r>
            <a:r>
              <a:rPr sz="1800" spc="-15" baseline="4629" dirty="0">
                <a:solidFill>
                  <a:srgbClr val="0B1F39"/>
                </a:solidFill>
                <a:latin typeface="Arial Black"/>
                <a:cs typeface="Arial Black"/>
              </a:rPr>
              <a:t>Features</a:t>
            </a:r>
            <a:endParaRPr lang="en-US" spc="-15" baseline="4629" dirty="0">
              <a:latin typeface="Arial Black"/>
              <a:cs typeface="Arial Black"/>
            </a:endParaRPr>
          </a:p>
          <a:p>
            <a:pPr marL="12700" algn="just">
              <a:lnSpc>
                <a:spcPct val="100000"/>
              </a:lnSpc>
              <a:spcBef>
                <a:spcPts val="100"/>
              </a:spcBef>
              <a:tabLst>
                <a:tab pos="246379" algn="l"/>
              </a:tabLst>
            </a:pPr>
            <a:r>
              <a:rPr sz="800" dirty="0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 pipeline, live end-to-end: upload with OCR, concept extraction, teacher and coordinator review, adaptive learning. Concept-level grading, mastery heatmaps, per-concept mini-games</a:t>
            </a:r>
            <a:r>
              <a:rPr lang="en-US" sz="800" dirty="0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sz="800" dirty="0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just a percentage score. Built on standard formats already in use: PDFs, PPTs, and HEC-format CLOs and PLOs.</a:t>
            </a:r>
            <a:endParaRPr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661279" y="2697480"/>
            <a:ext cx="4069716" cy="1017270"/>
            <a:chOff x="4661279" y="2697480"/>
            <a:chExt cx="4069716" cy="1017270"/>
          </a:xfrm>
        </p:grpSpPr>
        <p:sp>
          <p:nvSpPr>
            <p:cNvPr id="25" name="object 25"/>
            <p:cNvSpPr/>
            <p:nvPr/>
          </p:nvSpPr>
          <p:spPr>
            <a:xfrm>
              <a:off x="4661279" y="2697480"/>
              <a:ext cx="4069716" cy="1017270"/>
            </a:xfrm>
            <a:custGeom>
              <a:avLst/>
              <a:gdLst/>
              <a:ahLst/>
              <a:cxnLst/>
              <a:rect l="l" t="t" r="r" b="b"/>
              <a:pathLst>
                <a:path w="4012565" h="720089">
                  <a:moveTo>
                    <a:pt x="3957173" y="720089"/>
                  </a:moveTo>
                  <a:lnTo>
                    <a:pt x="54863" y="720089"/>
                  </a:lnTo>
                  <a:lnTo>
                    <a:pt x="33508" y="715778"/>
                  </a:lnTo>
                  <a:lnTo>
                    <a:pt x="16069" y="704020"/>
                  </a:lnTo>
                  <a:lnTo>
                    <a:pt x="4311" y="686581"/>
                  </a:lnTo>
                  <a:lnTo>
                    <a:pt x="0" y="665226"/>
                  </a:lnTo>
                  <a:lnTo>
                    <a:pt x="0" y="54863"/>
                  </a:lnTo>
                  <a:lnTo>
                    <a:pt x="4311" y="33508"/>
                  </a:lnTo>
                  <a:lnTo>
                    <a:pt x="16069" y="16069"/>
                  </a:lnTo>
                  <a:lnTo>
                    <a:pt x="33508" y="4311"/>
                  </a:lnTo>
                  <a:lnTo>
                    <a:pt x="54863" y="0"/>
                  </a:lnTo>
                  <a:lnTo>
                    <a:pt x="3957173" y="0"/>
                  </a:lnTo>
                  <a:lnTo>
                    <a:pt x="3995967" y="16069"/>
                  </a:lnTo>
                  <a:lnTo>
                    <a:pt x="4012036" y="54863"/>
                  </a:lnTo>
                  <a:lnTo>
                    <a:pt x="4012036" y="665226"/>
                  </a:lnTo>
                  <a:lnTo>
                    <a:pt x="4007725" y="686581"/>
                  </a:lnTo>
                  <a:lnTo>
                    <a:pt x="3995967" y="704020"/>
                  </a:lnTo>
                  <a:lnTo>
                    <a:pt x="3978528" y="715778"/>
                  </a:lnTo>
                  <a:lnTo>
                    <a:pt x="3957173" y="7200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73713" y="2810758"/>
              <a:ext cx="246894" cy="246887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580100" y="2904202"/>
            <a:ext cx="819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50" dirty="0">
                <a:latin typeface="Arial"/>
                <a:cs typeface="Arial"/>
              </a:rPr>
              <a:t>3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856203" y="2865402"/>
            <a:ext cx="819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50" dirty="0">
                <a:latin typeface="Arial"/>
                <a:cs typeface="Arial"/>
              </a:rPr>
              <a:t>4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080794" y="2779255"/>
            <a:ext cx="3447279" cy="8258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200" spc="-35" dirty="0">
                <a:solidFill>
                  <a:srgbClr val="0B1F39"/>
                </a:solidFill>
                <a:latin typeface="Arial Black"/>
                <a:cs typeface="Arial Black"/>
              </a:rPr>
              <a:t>Quality</a:t>
            </a:r>
            <a:r>
              <a:rPr sz="1200" spc="-120" dirty="0">
                <a:solidFill>
                  <a:srgbClr val="0B1F39"/>
                </a:solidFill>
                <a:latin typeface="Arial Black"/>
                <a:cs typeface="Arial Black"/>
              </a:rPr>
              <a:t> </a:t>
            </a:r>
            <a:r>
              <a:rPr sz="1200" spc="-114" dirty="0">
                <a:solidFill>
                  <a:srgbClr val="0B1F39"/>
                </a:solidFill>
                <a:latin typeface="Arial Black"/>
                <a:cs typeface="Arial Black"/>
              </a:rPr>
              <a:t>&amp; </a:t>
            </a:r>
            <a:r>
              <a:rPr sz="1200" spc="-10" dirty="0">
                <a:solidFill>
                  <a:srgbClr val="0B1F39"/>
                </a:solidFill>
                <a:latin typeface="Arial Black"/>
                <a:cs typeface="Arial Black"/>
              </a:rPr>
              <a:t>Technology</a:t>
            </a:r>
            <a:endParaRPr sz="1200" dirty="0">
              <a:latin typeface="Arial Black"/>
              <a:cs typeface="Arial Black"/>
            </a:endParaRPr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 &amp; standards: a hallucination-mitigation </a:t>
            </a:r>
            <a:r>
              <a:rPr sz="800" spc="-10" dirty="0" err="1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layer</a:t>
            </a:r>
            <a:r>
              <a:rPr lang="en-US" sz="800" spc="-10" dirty="0" err="1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800" spc="-10" dirty="0" err="1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grounded</a:t>
            </a:r>
            <a:r>
              <a:rPr sz="800" spc="-10" dirty="0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RAG, calibrated thresholds, mandatory citations, full Langfuse tracing. </a:t>
            </a:r>
            <a:endParaRPr lang="en-US" sz="800" spc="-10" dirty="0">
              <a:solidFill>
                <a:srgbClr val="1F293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 algn="just">
              <a:lnSpc>
                <a:spcPct val="100000"/>
              </a:lnSpc>
            </a:pPr>
            <a:r>
              <a:rPr sz="800" spc="-10" dirty="0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Stability &amp; reliability: FastAPI, pgvector, Neo4j Aura, and a 3-provider LLM fallback so the assistant never hard-fails. Security: 5-tier RBAC, JWT auth, and CSP-sandboxed AI content.</a:t>
            </a:r>
            <a:endParaRPr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73853" y="3762555"/>
            <a:ext cx="7017547" cy="610659"/>
          </a:xfrm>
          <a:custGeom>
            <a:avLst/>
            <a:gdLst/>
            <a:ahLst/>
            <a:cxnLst/>
            <a:rect l="l" t="t" r="r" b="b"/>
            <a:pathLst>
              <a:path w="8312150" h="481329">
                <a:moveTo>
                  <a:pt x="8279474" y="481199"/>
                </a:moveTo>
                <a:lnTo>
                  <a:pt x="32625" y="481199"/>
                </a:lnTo>
                <a:lnTo>
                  <a:pt x="19926" y="478636"/>
                </a:lnTo>
                <a:lnTo>
                  <a:pt x="9555" y="471644"/>
                </a:lnTo>
                <a:lnTo>
                  <a:pt x="2563" y="461273"/>
                </a:lnTo>
                <a:lnTo>
                  <a:pt x="0" y="448574"/>
                </a:lnTo>
                <a:lnTo>
                  <a:pt x="0" y="32625"/>
                </a:lnTo>
                <a:lnTo>
                  <a:pt x="2563" y="19926"/>
                </a:lnTo>
                <a:lnTo>
                  <a:pt x="9555" y="9555"/>
                </a:lnTo>
                <a:lnTo>
                  <a:pt x="19926" y="2563"/>
                </a:lnTo>
                <a:lnTo>
                  <a:pt x="32625" y="0"/>
                </a:lnTo>
                <a:lnTo>
                  <a:pt x="8288127" y="0"/>
                </a:lnTo>
                <a:lnTo>
                  <a:pt x="8296425" y="3437"/>
                </a:lnTo>
                <a:lnTo>
                  <a:pt x="8302544" y="9555"/>
                </a:lnTo>
                <a:lnTo>
                  <a:pt x="8308662" y="15674"/>
                </a:lnTo>
                <a:lnTo>
                  <a:pt x="8312099" y="23972"/>
                </a:lnTo>
                <a:lnTo>
                  <a:pt x="8312099" y="448574"/>
                </a:lnTo>
                <a:lnTo>
                  <a:pt x="8309536" y="461273"/>
                </a:lnTo>
                <a:lnTo>
                  <a:pt x="8302544" y="471644"/>
                </a:lnTo>
                <a:lnTo>
                  <a:pt x="8292173" y="478636"/>
                </a:lnTo>
                <a:lnTo>
                  <a:pt x="8279474" y="481199"/>
                </a:lnTo>
                <a:close/>
              </a:path>
            </a:pathLst>
          </a:custGeom>
          <a:solidFill>
            <a:srgbClr val="E4E9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604548" y="4380890"/>
            <a:ext cx="127000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900" dirty="0">
              <a:latin typeface="Arial Black"/>
              <a:cs typeface="Arial Black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57996" y="3849002"/>
            <a:ext cx="8252943" cy="4078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PK" sz="800" dirty="0"/>
              <a:t>Prerequisite chain proven end-to-end, Applied Physics to Digital Logic Design</a:t>
            </a:r>
            <a:r>
              <a:rPr lang="en-US" sz="800" dirty="0"/>
              <a:t> P</a:t>
            </a:r>
            <a:r>
              <a:rPr lang="en-PK" sz="800" dirty="0"/>
              <a:t>raised by IEEE</a:t>
            </a:r>
            <a:r>
              <a:rPr lang="en-US" sz="800" dirty="0"/>
              <a:t> member</a:t>
            </a:r>
            <a:r>
              <a:rPr lang="en-PK" sz="800" dirty="0"/>
              <a:t>, our HOD, and MBZUAI </a:t>
            </a:r>
            <a:r>
              <a:rPr lang="en-US" sz="800" dirty="0"/>
              <a:t>professor</a:t>
            </a:r>
            <a:r>
              <a:rPr lang="en-PK" sz="800" i="1" dirty="0"/>
              <a:t>(impact)</a:t>
            </a:r>
            <a:r>
              <a:rPr lang="en-PK" sz="800" dirty="0"/>
              <a:t>. </a:t>
            </a:r>
            <a:endParaRPr lang="en-US" sz="800" dirty="0"/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PK" sz="800" dirty="0"/>
              <a:t>Two-stage human-approval gate that no alternative offers </a:t>
            </a:r>
            <a:r>
              <a:rPr lang="en-PK" sz="800" i="1" dirty="0"/>
              <a:t>(innovation)</a:t>
            </a:r>
            <a:r>
              <a:rPr lang="en-PK" sz="800" dirty="0"/>
              <a:t>.</a:t>
            </a:r>
            <a:endParaRPr lang="en-US" sz="800" dirty="0"/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PK" sz="800" dirty="0"/>
              <a:t> A dedicated hallucination-mitigation layer </a:t>
            </a:r>
            <a:r>
              <a:rPr lang="en-PK" sz="800" i="1" dirty="0"/>
              <a:t>(technology/quality)</a:t>
            </a:r>
            <a:r>
              <a:rPr lang="en-PK" sz="800" dirty="0"/>
              <a:t>.</a:t>
            </a:r>
            <a:r>
              <a:rPr sz="800" spc="-10" dirty="0">
                <a:solidFill>
                  <a:srgbClr val="1F2937"/>
                </a:solidFill>
                <a:latin typeface="Arial MT"/>
                <a:cs typeface="Arial MT"/>
              </a:rPr>
              <a:t>.</a:t>
            </a:r>
            <a:endParaRPr sz="800" dirty="0">
              <a:latin typeface="Arial MT"/>
              <a:cs typeface="Arial MT"/>
            </a:endParaRPr>
          </a:p>
        </p:txBody>
      </p:sp>
      <p:pic>
        <p:nvPicPr>
          <p:cNvPr id="35" name="object 3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56705" y="217700"/>
            <a:ext cx="906993" cy="426975"/>
          </a:xfrm>
          <a:prstGeom prst="rect">
            <a:avLst/>
          </a:prstGeom>
        </p:spPr>
      </p:pic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9AA1F-A62E-619D-E21C-2B8D7E0A8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>
            <a:extLst>
              <a:ext uri="{FF2B5EF4-FFF2-40B4-BE49-F238E27FC236}">
                <a16:creationId xmlns:a16="http://schemas.microsoft.com/office/drawing/2014/main" id="{C1F5E07A-9D2F-16C1-0D1C-C87770DAFAD5}"/>
              </a:ext>
            </a:extLst>
          </p:cNvPr>
          <p:cNvSpPr txBox="1"/>
          <p:nvPr/>
        </p:nvSpPr>
        <p:spPr>
          <a:xfrm>
            <a:off x="4856203" y="1602033"/>
            <a:ext cx="819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50" dirty="0">
                <a:latin typeface="Arial"/>
                <a:cs typeface="Arial"/>
              </a:rPr>
              <a:t>2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262AE0C4-1D7F-85A8-3FFE-73444127A9F9}"/>
              </a:ext>
            </a:extLst>
          </p:cNvPr>
          <p:cNvSpPr txBox="1"/>
          <p:nvPr/>
        </p:nvSpPr>
        <p:spPr>
          <a:xfrm>
            <a:off x="4856203" y="2865402"/>
            <a:ext cx="819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50" dirty="0">
                <a:latin typeface="Arial"/>
                <a:cs typeface="Arial"/>
              </a:rPr>
              <a:t>4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DCDFBD99-82D7-E635-A80D-AC3991C39473}"/>
              </a:ext>
            </a:extLst>
          </p:cNvPr>
          <p:cNvSpPr txBox="1"/>
          <p:nvPr/>
        </p:nvSpPr>
        <p:spPr>
          <a:xfrm>
            <a:off x="604548" y="4380890"/>
            <a:ext cx="127000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900" dirty="0">
              <a:latin typeface="Arial Black"/>
              <a:cs typeface="Arial Black"/>
            </a:endParaRPr>
          </a:p>
        </p:txBody>
      </p:sp>
      <p:pic>
        <p:nvPicPr>
          <p:cNvPr id="35" name="object 35">
            <a:extLst>
              <a:ext uri="{FF2B5EF4-FFF2-40B4-BE49-F238E27FC236}">
                <a16:creationId xmlns:a16="http://schemas.microsoft.com/office/drawing/2014/main" id="{2BF8E29A-2E55-6097-6428-701C200C0C4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56705" y="217700"/>
            <a:ext cx="906993" cy="426975"/>
          </a:xfrm>
          <a:prstGeom prst="rect">
            <a:avLst/>
          </a:prstGeom>
        </p:spPr>
      </p:pic>
      <p:sp>
        <p:nvSpPr>
          <p:cNvPr id="36" name="object 36">
            <a:extLst>
              <a:ext uri="{FF2B5EF4-FFF2-40B4-BE49-F238E27FC236}">
                <a16:creationId xmlns:a16="http://schemas.microsoft.com/office/drawing/2014/main" id="{E1974D32-D3BB-27BC-B89C-D7E9F28D1D0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33B4C-9C85-4F78-60EF-18CD75D22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51" y="136363"/>
            <a:ext cx="8863698" cy="4864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40178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9AA1F-A62E-619D-E21C-2B8D7E0A8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>
            <a:extLst>
              <a:ext uri="{FF2B5EF4-FFF2-40B4-BE49-F238E27FC236}">
                <a16:creationId xmlns:a16="http://schemas.microsoft.com/office/drawing/2014/main" id="{C1F5E07A-9D2F-16C1-0D1C-C87770DAFAD5}"/>
              </a:ext>
            </a:extLst>
          </p:cNvPr>
          <p:cNvSpPr txBox="1"/>
          <p:nvPr/>
        </p:nvSpPr>
        <p:spPr>
          <a:xfrm>
            <a:off x="4856203" y="1602033"/>
            <a:ext cx="819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50" dirty="0">
                <a:latin typeface="Arial"/>
                <a:cs typeface="Arial"/>
              </a:rPr>
              <a:t>2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262AE0C4-1D7F-85A8-3FFE-73444127A9F9}"/>
              </a:ext>
            </a:extLst>
          </p:cNvPr>
          <p:cNvSpPr txBox="1"/>
          <p:nvPr/>
        </p:nvSpPr>
        <p:spPr>
          <a:xfrm>
            <a:off x="4856203" y="2865402"/>
            <a:ext cx="819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50" dirty="0">
                <a:latin typeface="Arial"/>
                <a:cs typeface="Arial"/>
              </a:rPr>
              <a:t>4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DCDFBD99-82D7-E635-A80D-AC3991C39473}"/>
              </a:ext>
            </a:extLst>
          </p:cNvPr>
          <p:cNvSpPr txBox="1"/>
          <p:nvPr/>
        </p:nvSpPr>
        <p:spPr>
          <a:xfrm>
            <a:off x="604548" y="4380890"/>
            <a:ext cx="127000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900" dirty="0">
              <a:latin typeface="Arial Black"/>
              <a:cs typeface="Arial Black"/>
            </a:endParaRPr>
          </a:p>
        </p:txBody>
      </p:sp>
      <p:pic>
        <p:nvPicPr>
          <p:cNvPr id="35" name="object 35">
            <a:extLst>
              <a:ext uri="{FF2B5EF4-FFF2-40B4-BE49-F238E27FC236}">
                <a16:creationId xmlns:a16="http://schemas.microsoft.com/office/drawing/2014/main" id="{2BF8E29A-2E55-6097-6428-701C200C0C4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56705" y="217700"/>
            <a:ext cx="906993" cy="426975"/>
          </a:xfrm>
          <a:prstGeom prst="rect">
            <a:avLst/>
          </a:prstGeom>
        </p:spPr>
      </p:pic>
      <p:sp>
        <p:nvSpPr>
          <p:cNvPr id="36" name="object 36">
            <a:extLst>
              <a:ext uri="{FF2B5EF4-FFF2-40B4-BE49-F238E27FC236}">
                <a16:creationId xmlns:a16="http://schemas.microsoft.com/office/drawing/2014/main" id="{E1974D32-D3BB-27BC-B89C-D7E9F28D1D0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3712384440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136</TotalTime>
  <Words>688</Words>
  <Application>Microsoft Office PowerPoint</Application>
  <PresentationFormat>On-screen Show (16:9)</PresentationFormat>
  <Paragraphs>64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MS PGothic</vt:lpstr>
      <vt:lpstr>Arial</vt:lpstr>
      <vt:lpstr>Arial Black</vt:lpstr>
      <vt:lpstr>Arial MT</vt:lpstr>
      <vt:lpstr>Calibri</vt:lpstr>
      <vt:lpstr>Lucida Sans Unicode</vt:lpstr>
      <vt:lpstr>Office Theme</vt:lpstr>
      <vt:lpstr>ConceptIntel;  A knowledge graph-based concept intelligence platform for teachers &amp; students</vt:lpstr>
      <vt:lpstr>Product Snapshot</vt:lpstr>
      <vt:lpstr>Why is your product ready for the P@SHA ICT Awards?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 Min Qualifying Pitch</dc:title>
  <cp:lastModifiedBy>231662_Mamoona .</cp:lastModifiedBy>
  <cp:revision>2</cp:revision>
  <dcterms:created xsi:type="dcterms:W3CDTF">2026-08-22T18:35:59Z</dcterms:created>
  <dcterms:modified xsi:type="dcterms:W3CDTF">2026-09-03T11:21:03Z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2026-08-22T00:00:00Z</vt:filetime>
  </property>
  <property fmtid="{D5CDD505-2E9C-101B-9397-08002B2CF9AE}" pid="4" name="Creator">
    <vt:lpwstr>Google</vt:lpwstr>
  </property>
  <property fmtid="{D5CDD505-2E9C-101B-9397-08002B2CF9AE}" pid="5" name="LastSaved">
    <vt:filetime>2026-08-22T00:00:00Z</vt:filetime>
  </property>
</Properties>
</file>