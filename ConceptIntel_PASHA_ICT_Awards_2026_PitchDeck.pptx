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A2F8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7B5CF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P@SHA ICT AWARDS 2026  ·  STUDENT INNOVATION CATEGORY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ConceptIntel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Graph–Based Concept Intelligence Platform for Adaptive Higher Education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7B5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Latif   </a:t>
            </a:r>
            <a:pPr indent="0" marL="0">
              <a:buNone/>
            </a:pPr>
            <a:r>
              <a:rPr lang="en-US" sz="12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231662 — Auth, Content Upload, AI Content Generation, Notifications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76402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  </a:t>
            </a:r>
            <a:pPr indent="0" marL="0">
              <a:buNone/>
            </a:pPr>
            <a:r>
              <a:rPr lang="en-US" sz="12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231627 — Course Mgmt, Knowledge Graph, Analytics, Gamification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932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Kashif   </a:t>
            </a:r>
            <a:pPr indent="0" marL="0">
              <a:buNone/>
            </a:pPr>
            <a:r>
              <a:rPr lang="en-US" sz="12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231568 — Enrollment, Supervision, Assignment Evaluation, Adaptive Engine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</a:t>
            </a:r>
            <a:pPr indent="0" marL="0">
              <a:buNone/>
            </a:pPr>
            <a:r>
              <a:rPr lang="en-US" sz="120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Air University, Islamabad   |   Faculty of Computing &amp;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Rethinking Digital Learning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 platforms are widely used across universities, but most focus on managing courses, distributing content, and recording grades — administrative tools rather than intelligent learning systems. They do not analyze how knowledge is structured or how students actually develop conceptual understanding.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 is an AI-powered concept intelligence platform for both teachers and students. It organizes course content as interconnected concepts in a knowledge graph, provides adaptive learning paths using Agentic AI, and generates personalized learning materials using Generative AI — while keeping teachers in the loop to review, edit, and approve every AI-generated output for full transparency.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2F1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53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5001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Subjects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3434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2F1F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4453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5001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43434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2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4453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5001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43434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2F1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453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732520" y="5001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in Higher Education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84680"/>
            <a:ext cx="182880" cy="162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LMS platforms manage courses and grades — but never measure conceptual understanding.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16200"/>
            <a:ext cx="182880" cy="162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688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progress through courses without mastering prerequisite concepts, causing gaps that compound over semesters.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47720"/>
            <a:ext cx="182880" cy="162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200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overall scores, not which specific concepts a student is struggling with.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79240"/>
            <a:ext cx="182880" cy="1625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9319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 tools explain topics but stay disconnected from the actual curriculum.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0760"/>
            <a:ext cx="182880" cy="1625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6634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built by one instructor rarely survives their departure — no institutional reuse.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589520" y="178308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2F1FC"/>
          </a:solidFill>
          <a:ln/>
        </p:spPr>
      </p:sp>
      <p:sp>
        <p:nvSpPr>
          <p:cNvPr id="20" name="Text 13"/>
          <p:cNvSpPr/>
          <p:nvPr/>
        </p:nvSpPr>
        <p:spPr>
          <a:xfrm>
            <a:off x="786384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→  LMS  →  Grades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86384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concept-level visibility for teacher or student.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835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7589520" y="361188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2F1FC"/>
          </a:solidFill>
          <a:ln/>
        </p:spPr>
      </p:sp>
      <p:sp>
        <p:nvSpPr>
          <p:cNvPr id="24" name="Text 17"/>
          <p:cNvSpPr/>
          <p:nvPr/>
        </p:nvSpPr>
        <p:spPr>
          <a:xfrm>
            <a:off x="786384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→  AI Chatbot  →  Generic Answer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86384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the course, curriculum, or prior mastery.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835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vs. ConceptIntel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7744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6948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04120" y="1737360"/>
            <a:ext cx="1417320" cy="566928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17373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30428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04288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01752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5216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6948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104120" y="230428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2871216"/>
            <a:ext cx="237744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2871216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01752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43484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5216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26948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68680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104120" y="2871216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04120" y="2871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0080" y="343814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38144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01752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43484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85216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726948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948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68680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104120" y="343814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04120" y="34381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40080" y="4005072"/>
            <a:ext cx="237744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301752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443484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585216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726948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6948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868680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0104120" y="4005072"/>
            <a:ext cx="1417320" cy="566928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04120" y="40050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640080" y="457200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301752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443484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3484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585216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726948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48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868680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8680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10104120" y="457200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1041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640080" y="5138928"/>
            <a:ext cx="2377440" cy="566928"/>
          </a:xfrm>
          <a:prstGeom prst="rect">
            <a:avLst/>
          </a:prstGeom>
          <a:solidFill>
            <a:srgbClr val="7B5CFA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" y="5138928"/>
            <a:ext cx="237744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301752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1752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443484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3484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585216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5216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726948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6948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8" name="Shape 96"/>
          <p:cNvSpPr/>
          <p:nvPr/>
        </p:nvSpPr>
        <p:spPr>
          <a:xfrm>
            <a:off x="868680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68680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10104120" y="5138928"/>
            <a:ext cx="1417320" cy="566928"/>
          </a:xfrm>
          <a:prstGeom prst="rect">
            <a:avLst/>
          </a:prstGeom>
          <a:solidFill>
            <a:srgbClr val="EFEA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104120" y="5138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ConceptIntel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6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4832"/>
            <a:ext cx="502920" cy="50292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235708"/>
            <a:ext cx="251460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3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Intelligence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3591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serving both students and teachers, built around concepts — not just courses.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84832"/>
            <a:ext cx="502920" cy="50292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2235708"/>
            <a:ext cx="251460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Knowledge-Graph-Driven Learning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23591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 becomes an interconnected map of concepts and prerequisites.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FEE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639312"/>
            <a:ext cx="502920" cy="502920"/>
          </a:xfrm>
          <a:prstGeom prst="ellipse">
            <a:avLst/>
          </a:prstGeom>
          <a:solidFill>
            <a:srgbClr val="2A2F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76504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39136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 and content search grounded directly in each course's uploaded material.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6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639312"/>
            <a:ext cx="502920" cy="50292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3779012"/>
            <a:ext cx="251460" cy="223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39136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paths that reinforce exactly the concepts a student is weak 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937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193792"/>
            <a:ext cx="502920" cy="502920"/>
          </a:xfrm>
          <a:prstGeom prst="ellipse">
            <a:avLst/>
          </a:prstGeom>
          <a:solidFill>
            <a:srgbClr val="2A2F8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31952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102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Teacher-in-the-Loop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54480" y="54681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concept and knowledge graph is reviewed and approved before students see it.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4937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FEE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492240" y="5193792"/>
            <a:ext cx="502920" cy="50292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5344668"/>
            <a:ext cx="251460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5102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78040" y="54681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are shared and reused across instructors teaching the same course.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7F6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43684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36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810512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AI platform supporting both students and teachers.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1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43684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436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1810512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concepts from course materials and organize them into a knowledge graph.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7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168396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683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935224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concept-level mastery for every student.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62072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1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168396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1683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2008" y="2935224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adaptive learning materials — flashcards, study guides, quizzes, and assignments — with explainable feedback.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7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293108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931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059936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teachers actionable insight into learning gaps and bottlenecks.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98678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293108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2931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2008" y="4059936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teacher supervision and approval of all AI-generated content and recommendations.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1149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7F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417820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4178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5184648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weak concepts through personalized, gamified exercises.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11149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2F1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46520" y="5417820"/>
            <a:ext cx="347472" cy="347472"/>
          </a:xfrm>
          <a:prstGeom prst="ellipse">
            <a:avLst/>
          </a:prstGeom>
          <a:solidFill>
            <a:srgbClr val="2A2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54178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22008" y="5184648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continuous content improvement through feedback-driven regeneration.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 is being developed as a prototype web-based learning system spanning three subjects, chosen specifically to demonstrate prerequisite-based concept relationships across a curriculum: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059" y="2914650"/>
            <a:ext cx="243602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Physics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prerequisite subject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62272" y="2560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90872" y="278892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602" y="2939796"/>
            <a:ext cx="251460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90872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Applied Physics concepts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38744" y="2560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67344" y="278892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074" y="29146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&amp; Analytical Geometry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67344" y="3749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third pilot subject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85800" y="4434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Teachers upload slides, PDFs, textbooks, CLOs, PLOs, reference books, and HEC outlines.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" y="48188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full content isn't available, initial concept structure can be generated from outlines alone.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5800" y="520293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Knowledge graphs are shared across teachers teaching the same course, and reused by future instructors.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558698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project prioritizes prototype validation over full-scale deployment.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Uploads Material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18688" y="23774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20440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1488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(RAG)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53328" y="23774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55080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Generation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87968" y="23774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89720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1488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7947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526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Generation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18688" y="42062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520440" y="37947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9776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03320" y="4526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53328" y="42062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355080" y="37947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7960" y="4526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 Feedback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87968" y="420624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89720" y="37947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2600" y="3977640"/>
            <a:ext cx="457200" cy="45720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40" name="Text 38"/>
          <p:cNvSpPr/>
          <p:nvPr/>
        </p:nvSpPr>
        <p:spPr>
          <a:xfrm>
            <a:off x="93726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72600" y="4526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5" name="Shape 3"/>
          <p:cNvSpPr/>
          <p:nvPr/>
        </p:nvSpPr>
        <p:spPr>
          <a:xfrm>
            <a:off x="1673352" y="19659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2130552"/>
            <a:ext cx="274320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Builder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456432" y="17830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10" name="Shape 7"/>
          <p:cNvSpPr/>
          <p:nvPr/>
        </p:nvSpPr>
        <p:spPr>
          <a:xfrm>
            <a:off x="4489704" y="19659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54" y="2103120"/>
            <a:ext cx="20574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6060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+ RAG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93592" y="29260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15" name="Shape 11"/>
          <p:cNvSpPr/>
          <p:nvPr/>
        </p:nvSpPr>
        <p:spPr>
          <a:xfrm>
            <a:off x="7306056" y="19659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130552"/>
            <a:ext cx="274320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6060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 Extraction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09944" y="29260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9089136" y="17830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22408" y="19659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6060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Role-Based Access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226296" y="29260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40080" y="33832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25" name="Shape 19"/>
          <p:cNvSpPr/>
          <p:nvPr/>
        </p:nvSpPr>
        <p:spPr>
          <a:xfrm>
            <a:off x="1673352" y="35661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12" y="37033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206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Approval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77240" y="45262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3456432" y="33832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30" name="Shape 23"/>
          <p:cNvSpPr/>
          <p:nvPr/>
        </p:nvSpPr>
        <p:spPr>
          <a:xfrm>
            <a:off x="4489704" y="35661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3718560"/>
            <a:ext cx="274320" cy="2438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47872" y="4206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Stream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3593592" y="45262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6272784" y="33832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35" name="Shape 27"/>
          <p:cNvSpPr/>
          <p:nvPr/>
        </p:nvSpPr>
        <p:spPr>
          <a:xfrm>
            <a:off x="7306056" y="35661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370332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206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409944" y="45262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9089136" y="33832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2A2F8F"/>
          </a:solidFill>
          <a:ln/>
        </p:spPr>
      </p:sp>
      <p:sp>
        <p:nvSpPr>
          <p:cNvPr id="40" name="Shape 31"/>
          <p:cNvSpPr/>
          <p:nvPr/>
        </p:nvSpPr>
        <p:spPr>
          <a:xfrm>
            <a:off x="10122408" y="3566160"/>
            <a:ext cx="548640" cy="548640"/>
          </a:xfrm>
          <a:prstGeom prst="ellipse">
            <a:avLst/>
          </a:prstGeom>
          <a:solidFill>
            <a:srgbClr val="3E43A8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6713" y="3703320"/>
            <a:ext cx="24003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0576" y="42062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9226296" y="45262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640080" y="49834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45" name="Shape 35"/>
          <p:cNvSpPr/>
          <p:nvPr/>
        </p:nvSpPr>
        <p:spPr>
          <a:xfrm>
            <a:off x="1673352" y="5166360"/>
            <a:ext cx="548640" cy="54864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0512" y="5318760"/>
            <a:ext cx="274320" cy="24384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1520" y="58064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77240" y="61264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3456432" y="49834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50" name="Shape 39"/>
          <p:cNvSpPr/>
          <p:nvPr/>
        </p:nvSpPr>
        <p:spPr>
          <a:xfrm>
            <a:off x="4489704" y="5166360"/>
            <a:ext cx="548640" cy="54864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6864" y="5303520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3547872" y="58064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3593592" y="61264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6272784" y="49834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55" name="Shape 43"/>
          <p:cNvSpPr/>
          <p:nvPr/>
        </p:nvSpPr>
        <p:spPr>
          <a:xfrm>
            <a:off x="7306056" y="5166360"/>
            <a:ext cx="548640" cy="54864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3216" y="5330952"/>
            <a:ext cx="274320" cy="219456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364224" y="58064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000" dirty="0"/>
          </a:p>
        </p:txBody>
      </p:sp>
      <p:sp>
        <p:nvSpPr>
          <p:cNvPr id="58" name="Text 45"/>
          <p:cNvSpPr/>
          <p:nvPr/>
        </p:nvSpPr>
        <p:spPr>
          <a:xfrm>
            <a:off x="6409944" y="61264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59" name="Shape 46"/>
          <p:cNvSpPr/>
          <p:nvPr/>
        </p:nvSpPr>
        <p:spPr>
          <a:xfrm>
            <a:off x="9089136" y="498348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1FC"/>
          </a:solidFill>
          <a:ln/>
        </p:spPr>
      </p:sp>
      <p:sp>
        <p:nvSpPr>
          <p:cNvPr id="60" name="Shape 47"/>
          <p:cNvSpPr/>
          <p:nvPr/>
        </p:nvSpPr>
        <p:spPr>
          <a:xfrm>
            <a:off x="10122408" y="5166360"/>
            <a:ext cx="548640" cy="548640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9568" y="5303520"/>
            <a:ext cx="274320" cy="27432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9180576" y="58064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</a:t>
            </a:r>
            <a:endParaRPr lang="en-US" sz="1000" dirty="0"/>
          </a:p>
        </p:txBody>
      </p:sp>
      <p:sp>
        <p:nvSpPr>
          <p:cNvPr id="63" name="Text 49"/>
          <p:cNvSpPr/>
          <p:nvPr/>
        </p:nvSpPr>
        <p:spPr>
          <a:xfrm>
            <a:off x="9226296" y="6126480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64" name="Text 5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7.1 – 7.6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(Part 1 of 2)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login, and role-based access for 5 roles; secure sessions.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0" y="19293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0" y="1929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2374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6151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6151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Create/edit/delete courses with metadata, scheduling, and status.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0" y="271576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27157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1012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4015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3401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codes, join links, and prerequisite checks.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0" y="35021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965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00200" y="41879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41879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materials; AI + RAG pipeline extracts concepts and objectives.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0" y="428853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42885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8289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600200" y="49743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9743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visualize, and edit concept dependencies; shared across instructors.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0" y="50749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5074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669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60020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3484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MCQs, flashcards, study guides, and quizzes from concept nodes.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58400" y="5861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0" y="5861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7.7 – 7.12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(Part 2 of 2)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Supervision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modify, and approve AI-generated content and knowledge graphs.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0" y="19293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0" y="1929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2374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6151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6151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PDF/Word assignments at concept level with explainable feedback.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0" y="271576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DF5E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27157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1012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4015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3401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Observe-Analyze-Plan-Act loop personalizing each student's learning path.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0" y="35021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965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00200" y="41879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41879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Concept-mastery heatmaps and bottleneck insights for teachers.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0" y="428853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42885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AFA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8289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600200" y="49743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9743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 tied to concept nodes, adapting to student mastery.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0" y="50749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5074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2F1F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669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7.12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60020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3484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and alerts for new content, quizzes, and feedback.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58400" y="5861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0" y="5861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500"/>
            </a:avLst>
          </a:prstGeom>
          <a:solidFill>
            <a:srgbClr val="2A2F8F"/>
          </a:solidFill>
          <a:ln/>
        </p:spPr>
      </p:sp>
      <p:sp>
        <p:nvSpPr>
          <p:cNvPr id="5" name="Shape 3"/>
          <p:cNvSpPr/>
          <p:nvPr/>
        </p:nvSpPr>
        <p:spPr>
          <a:xfrm>
            <a:off x="2084832" y="1792224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132" y="1929384"/>
            <a:ext cx="22860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1746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97480" y="20391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Teachers · Coordinators · Admins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2354580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66544" y="2473452"/>
            <a:ext cx="8028432" cy="658368"/>
          </a:xfrm>
          <a:prstGeom prst="roundRect">
            <a:avLst>
              <a:gd name="adj" fmla="val 12500"/>
            </a:avLst>
          </a:prstGeom>
          <a:solidFill>
            <a:srgbClr val="7B5CFA"/>
          </a:solidFill>
          <a:ln/>
        </p:spPr>
      </p:sp>
      <p:sp>
        <p:nvSpPr>
          <p:cNvPr id="11" name="Shape 8"/>
          <p:cNvSpPr/>
          <p:nvPr/>
        </p:nvSpPr>
        <p:spPr>
          <a:xfrm>
            <a:off x="2231136" y="2574036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68833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25283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43784" y="2820924"/>
            <a:ext cx="7114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React Flow · Tailwind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43600" y="3136392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12848" y="3255264"/>
            <a:ext cx="7735824" cy="658368"/>
          </a:xfrm>
          <a:prstGeom prst="roundRect">
            <a:avLst>
              <a:gd name="adj" fmla="val 12500"/>
            </a:avLst>
          </a:prstGeom>
          <a:solidFill>
            <a:srgbClr val="2A2F8F"/>
          </a:solidFill>
          <a:ln/>
        </p:spPr>
      </p:sp>
      <p:sp>
        <p:nvSpPr>
          <p:cNvPr id="17" name="Shape 13"/>
          <p:cNvSpPr/>
          <p:nvPr/>
        </p:nvSpPr>
        <p:spPr>
          <a:xfrm>
            <a:off x="2377440" y="3355848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347014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90088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990088" y="3602736"/>
            <a:ext cx="682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JWT/OAuth · Role-Based Access Control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43600" y="3918204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359152" y="4037076"/>
            <a:ext cx="7443216" cy="658368"/>
          </a:xfrm>
          <a:prstGeom prst="roundRect">
            <a:avLst>
              <a:gd name="adj" fmla="val 12500"/>
            </a:avLst>
          </a:prstGeom>
          <a:solidFill>
            <a:srgbClr val="7B5CFA"/>
          </a:solidFill>
          <a:ln/>
        </p:spPr>
      </p:sp>
      <p:sp>
        <p:nvSpPr>
          <p:cNvPr id="23" name="Shape 18"/>
          <p:cNvSpPr/>
          <p:nvPr/>
        </p:nvSpPr>
        <p:spPr>
          <a:xfrm>
            <a:off x="2523744" y="4137660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44" y="4274820"/>
            <a:ext cx="22860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36392" y="40919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RAG Layer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136392" y="4384548"/>
            <a:ext cx="6528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· fastembed · OCR · Langfuse Tracing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943600" y="470001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505456" y="4818888"/>
            <a:ext cx="7150608" cy="658368"/>
          </a:xfrm>
          <a:prstGeom prst="roundRect">
            <a:avLst>
              <a:gd name="adj" fmla="val 12500"/>
            </a:avLst>
          </a:prstGeom>
          <a:solidFill>
            <a:srgbClr val="2A2F8F"/>
          </a:solidFill>
          <a:ln/>
        </p:spPr>
      </p:sp>
      <p:sp>
        <p:nvSpPr>
          <p:cNvPr id="29" name="Shape 23"/>
          <p:cNvSpPr/>
          <p:nvPr/>
        </p:nvSpPr>
        <p:spPr>
          <a:xfrm>
            <a:off x="2670048" y="491947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636" y="5033772"/>
            <a:ext cx="200025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82696" y="4873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282696" y="5166360"/>
            <a:ext cx="6236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 +  PostgreSQL Relational &amp; Vector Store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943600" y="5481828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2651760" y="5600700"/>
            <a:ext cx="6858000" cy="658368"/>
          </a:xfrm>
          <a:prstGeom prst="roundRect">
            <a:avLst>
              <a:gd name="adj" fmla="val 12500"/>
            </a:avLst>
          </a:prstGeom>
          <a:solidFill>
            <a:srgbClr val="7B5CFA"/>
          </a:solidFill>
          <a:ln/>
        </p:spPr>
      </p:sp>
      <p:sp>
        <p:nvSpPr>
          <p:cNvPr id="35" name="Shape 28"/>
          <p:cNvSpPr/>
          <p:nvPr/>
        </p:nvSpPr>
        <p:spPr>
          <a:xfrm>
            <a:off x="2816352" y="5701284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0652" y="5838444"/>
            <a:ext cx="22860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429000" y="56555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Services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3429000" y="59481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Supabase Storage · Email · Notifications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103120" cy="4434840"/>
          </a:xfrm>
          <a:prstGeom prst="roundRect">
            <a:avLst>
              <a:gd name="adj" fmla="val 4348"/>
            </a:avLst>
          </a:prstGeom>
          <a:solidFill>
            <a:srgbClr val="2A2F8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842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2423160"/>
            <a:ext cx="1600200" cy="0"/>
          </a:xfrm>
          <a:prstGeom prst="line">
            <a:avLst/>
          </a:prstGeom>
          <a:noFill/>
          <a:ln w="12700">
            <a:solidFill>
              <a:srgbClr val="6B7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060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17296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739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TanStack 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430682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48737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54406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1783080"/>
            <a:ext cx="2103120" cy="4434840"/>
          </a:xfrm>
          <a:prstGeom prst="roundRect">
            <a:avLst>
              <a:gd name="adj" fmla="val 4348"/>
            </a:avLst>
          </a:prstGeom>
          <a:solidFill>
            <a:srgbClr val="2F35A8"/>
          </a:solidFill>
          <a:ln/>
        </p:spPr>
      </p:sp>
      <p:sp>
        <p:nvSpPr>
          <p:cNvPr id="14" name="Text 12"/>
          <p:cNvSpPr/>
          <p:nvPr/>
        </p:nvSpPr>
        <p:spPr>
          <a:xfrm>
            <a:off x="3026664" y="19842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26664" y="2423160"/>
            <a:ext cx="1600200" cy="0"/>
          </a:xfrm>
          <a:prstGeom prst="line">
            <a:avLst/>
          </a:prstGeom>
          <a:noFill/>
          <a:ln w="12700">
            <a:solidFill>
              <a:srgbClr val="6B7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26060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26664" y="317296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2.0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26664" y="3739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26664" y="430682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Uvicorn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26664" y="48737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Pydantic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84064" y="1783080"/>
            <a:ext cx="2103120" cy="4434840"/>
          </a:xfrm>
          <a:prstGeom prst="roundRect">
            <a:avLst>
              <a:gd name="adj" fmla="val 4348"/>
            </a:avLst>
          </a:prstGeom>
          <a:solidFill>
            <a:srgbClr val="2A2F8F"/>
          </a:solidFill>
          <a:ln/>
        </p:spPr>
      </p:sp>
      <p:sp>
        <p:nvSpPr>
          <p:cNvPr id="22" name="Text 20"/>
          <p:cNvSpPr/>
          <p:nvPr/>
        </p:nvSpPr>
        <p:spPr>
          <a:xfrm>
            <a:off x="5248656" y="19842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248656" y="2423160"/>
            <a:ext cx="1600200" cy="0"/>
          </a:xfrm>
          <a:prstGeom prst="line">
            <a:avLst/>
          </a:prstGeom>
          <a:noFill/>
          <a:ln w="12700">
            <a:solidFill>
              <a:srgbClr val="6B7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8656" y="26060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 GPT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48656" y="317296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fastembed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48656" y="3739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Tesseract OCR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48656" y="430682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PyMuPDF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8656" y="48737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Langfuse Tracing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06056" y="1783080"/>
            <a:ext cx="2103120" cy="4434840"/>
          </a:xfrm>
          <a:prstGeom prst="roundRect">
            <a:avLst>
              <a:gd name="adj" fmla="val 4348"/>
            </a:avLst>
          </a:prstGeom>
          <a:solidFill>
            <a:srgbClr val="2F35A8"/>
          </a:solidFill>
          <a:ln/>
        </p:spPr>
      </p:sp>
      <p:sp>
        <p:nvSpPr>
          <p:cNvPr id="30" name="Text 28"/>
          <p:cNvSpPr/>
          <p:nvPr/>
        </p:nvSpPr>
        <p:spPr>
          <a:xfrm>
            <a:off x="7470648" y="19842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Data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0648" y="2423160"/>
            <a:ext cx="1600200" cy="0"/>
          </a:xfrm>
          <a:prstGeom prst="line">
            <a:avLst/>
          </a:prstGeom>
          <a:noFill/>
          <a:ln w="12700">
            <a:solidFill>
              <a:srgbClr val="6B70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26060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Neo4j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70648" y="317296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Vector Similarity 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0648" y="3739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ORM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28048" y="1783080"/>
            <a:ext cx="2103120" cy="4434840"/>
          </a:xfrm>
          <a:prstGeom prst="roundRect">
            <a:avLst>
              <a:gd name="adj" fmla="val 4348"/>
            </a:avLst>
          </a:prstGeom>
          <a:solidFill>
            <a:srgbClr val="2A2F8F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19842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92640" y="2423160"/>
            <a:ext cx="1600200" cy="0"/>
          </a:xfrm>
          <a:prstGeom prst="line">
            <a:avLst/>
          </a:prstGeom>
          <a:noFill/>
          <a:ln w="12700">
            <a:solidFill>
              <a:srgbClr val="6B70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26060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S3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92640" y="317296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Storage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92640" y="3739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Auth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92640" y="430682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OAuth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92640" y="48737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/ bcrypt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Demonstration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7510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7510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197510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374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Google Sign-In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87452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97510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0328" y="197510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11496" y="197510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28600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5374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87452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97510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3648" y="197510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22" name="Shape 20"/>
          <p:cNvSpPr/>
          <p:nvPr/>
        </p:nvSpPr>
        <p:spPr>
          <a:xfrm>
            <a:off x="8814816" y="197510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228600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5374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9776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07822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7008" y="407822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8176" y="407822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38912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6405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Editor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34840" y="3840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9776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407822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10328" y="407822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36" name="Shape 34"/>
          <p:cNvSpPr/>
          <p:nvPr/>
        </p:nvSpPr>
        <p:spPr>
          <a:xfrm>
            <a:off x="5111496" y="407822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38912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6405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Stream &amp; Assignments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38160" y="3840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2F1FC"/>
          </a:solidFill>
          <a:ln w="12700">
            <a:solidFill>
              <a:srgbClr val="E3E1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39776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4078224"/>
            <a:ext cx="91440" cy="914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8613648" y="4078224"/>
            <a:ext cx="91440" cy="91440"/>
          </a:xfrm>
          <a:prstGeom prst="ellipse">
            <a:avLst/>
          </a:prstGeom>
          <a:solidFill>
            <a:srgbClr val="E0B23C"/>
          </a:solidFill>
          <a:ln/>
        </p:spPr>
      </p:sp>
      <p:sp>
        <p:nvSpPr>
          <p:cNvPr id="43" name="Shape 41"/>
          <p:cNvSpPr/>
          <p:nvPr/>
        </p:nvSpPr>
        <p:spPr>
          <a:xfrm>
            <a:off x="8814816" y="4078224"/>
            <a:ext cx="91440" cy="91440"/>
          </a:xfrm>
          <a:prstGeom prst="ellipse">
            <a:avLst/>
          </a:prstGeom>
          <a:solidFill>
            <a:srgbClr val="3FA85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75320" y="4389120"/>
            <a:ext cx="3154680" cy="1051560"/>
          </a:xfrm>
          <a:prstGeom prst="rect">
            <a:avLst/>
          </a:prstGeom>
          <a:solidFill>
            <a:srgbClr val="F2F1FC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46405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currently under active development — screens shown are representative UI flows.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ConceptIntel Is Different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07568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226564"/>
            <a:ext cx="251460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Knowledge Graph Fusion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310896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 is grounded in a real graph database, not a flat AI response.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62272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07568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220141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Curriculum-Aware RAG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and generated concept is retrieved from the course's own material.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38744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9912" y="207568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642" y="220141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Teacher-Approved AI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9912" y="310896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Course Coordinator role reviews and approves every knowledge graph.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86968" y="431596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" y="4466844"/>
            <a:ext cx="251460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" y="49377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Institutional Knowledge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6968" y="534924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are reused across instructors teaching the same course, term after term.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62272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31596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70" y="444169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9377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Academic Governance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63440" y="534924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roles — Admin, Program &amp; Course Coordinators, Teacher, Student — mirror real university structure.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38744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39912" y="4315968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642" y="444169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9912" y="49377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Analytics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9912" y="5349240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exactly which prerequisite concepts a cohort is weak on, not just grades.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Progress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EAF7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2523744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50592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 (5 Roles) + Google Sign-In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1248" y="2884932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11780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Catalog Management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41248" y="3246120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72968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Module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3607308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34156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+ RAG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41248" y="3968496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95344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Engine (Neo4j + AI)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1248" y="4329684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56532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Approval Workflow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" y="4690872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17720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Stream &amp; Announcements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" y="5052060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978908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(Submission Flow)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1248" y="5413248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340096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1248" y="5774436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701284"/>
            <a:ext cx="2971800" cy="361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16552" y="17830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DF5E7"/>
          </a:solidFill>
          <a:ln/>
        </p:spPr>
      </p:sp>
      <p:sp>
        <p:nvSpPr>
          <p:cNvPr id="28" name="Shape 26"/>
          <p:cNvSpPr/>
          <p:nvPr/>
        </p:nvSpPr>
        <p:spPr>
          <a:xfrm>
            <a:off x="4599432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2523744"/>
            <a:ext cx="73152" cy="7315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24505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 Module (grading &amp; feedback)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980944"/>
            <a:ext cx="73152" cy="7315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29077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 (OAPA loop)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93024" y="17830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2F2F5"/>
          </a:solidFill>
          <a:ln/>
        </p:spPr>
      </p:sp>
      <p:sp>
        <p:nvSpPr>
          <p:cNvPr id="35" name="Shape 33"/>
          <p:cNvSpPr/>
          <p:nvPr/>
        </p:nvSpPr>
        <p:spPr>
          <a:xfrm>
            <a:off x="8375904" y="1965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94192" y="2523744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8558784" y="24505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Analytics Dashboard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4192" y="2980944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0" name="Text 38"/>
          <p:cNvSpPr/>
          <p:nvPr/>
        </p:nvSpPr>
        <p:spPr>
          <a:xfrm>
            <a:off x="8558784" y="29077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Module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94192" y="3438144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2" name="Text 40"/>
          <p:cNvSpPr/>
          <p:nvPr/>
        </p:nvSpPr>
        <p:spPr>
          <a:xfrm>
            <a:off x="8558784" y="33649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Pilot Testing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Limitations &amp; Constraints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6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97100"/>
            <a:ext cx="251460" cy="22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Isn't Perfect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45059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concept extraction may not always identify concepts perfectly and can require teacher adjustment.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6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899" y="2183130"/>
            <a:ext cx="243602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Prototype-Focused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78040" y="245059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targets prototype functionality across 3 pilot subjects rather than full-scale deployment.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26" y="4331970"/>
            <a:ext cx="220028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994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real-time adaptation for many concurrent students may require more computational resources.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6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FDECE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403" y="4331970"/>
            <a:ext cx="188595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Material Quality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45994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 quality depends directly on the quality of uploaded educational materials.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Gathering Approach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843" y="2183130"/>
            <a:ext cx="188595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Materials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395728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slides, textbooks, and course outlines are processed with AI techniques to extract conceptual information.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21831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Data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2395728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responses and learning progress are collected to analyze conceptual understanding over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1033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Guidance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4315968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guidance from academic supervisors shapes system design decisions.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7B5C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41033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Analysis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4315968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existing digital learning platforms informs feature and workflow design.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Stakeholders &amp; Roles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A2F8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56816"/>
            <a:ext cx="438912" cy="438912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665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Sponsor: Air University, Islamabad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7F6FF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3108960"/>
            <a:ext cx="512064" cy="512064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3262579"/>
            <a:ext cx="256032" cy="204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947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04672" y="438912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end-users following adaptive learning paths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825496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2F1FC"/>
          </a:solidFill>
          <a:ln/>
        </p:spPr>
      </p:sp>
      <p:sp>
        <p:nvSpPr>
          <p:cNvPr id="14" name="Shape 10"/>
          <p:cNvSpPr/>
          <p:nvPr/>
        </p:nvSpPr>
        <p:spPr>
          <a:xfrm>
            <a:off x="3593592" y="3108960"/>
            <a:ext cx="512064" cy="512064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3262579"/>
            <a:ext cx="256032" cy="204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62656" y="37947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2990088" y="438912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creators and knowledge-graph supervisors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010912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7F6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79008" y="3108960"/>
            <a:ext cx="512064" cy="512064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23697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48072" y="37947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Course Coordinators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175504" y="438912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oversight and content approval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196328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2F1FC"/>
          </a:solidFill>
          <a:ln/>
        </p:spPr>
      </p:sp>
      <p:sp>
        <p:nvSpPr>
          <p:cNvPr id="24" name="Shape 18"/>
          <p:cNvSpPr/>
          <p:nvPr/>
        </p:nvSpPr>
        <p:spPr>
          <a:xfrm>
            <a:off x="7964424" y="3108960"/>
            <a:ext cx="512064" cy="512064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23697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33488" y="37947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360920" y="438912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 — technical and academic guidance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9381744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7F6FF"/>
          </a:solidFill>
          <a:ln/>
        </p:spPr>
      </p:sp>
      <p:sp>
        <p:nvSpPr>
          <p:cNvPr id="29" name="Shape 22"/>
          <p:cNvSpPr/>
          <p:nvPr/>
        </p:nvSpPr>
        <p:spPr>
          <a:xfrm>
            <a:off x="10149840" y="3108960"/>
            <a:ext cx="512064" cy="512064"/>
          </a:xfrm>
          <a:prstGeom prst="ellipse">
            <a:avLst/>
          </a:prstGeom>
          <a:solidFill>
            <a:srgbClr val="E3E1F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56" y="3236976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18904" y="379476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 Evaluation Committee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9546336" y="438912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of project deliverables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Module-Based Work Division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737360" cy="502920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783080"/>
            <a:ext cx="2743200" cy="502920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783080"/>
            <a:ext cx="6400800" cy="502920"/>
          </a:xfrm>
          <a:prstGeom prst="rect">
            <a:avLst/>
          </a:prstGeom>
          <a:solidFill>
            <a:srgbClr val="2A2F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83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737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1463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Latif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231662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28600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Content Upload, Content Generation, Notification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6400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286000"/>
            <a:ext cx="6126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authentication, manages content uploads, develops AI content generation, and notifications.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737360" cy="1325880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1463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231627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611880"/>
            <a:ext cx="2743200" cy="1325880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61188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Management, Knowledge Graph, Analytics Dashboard, Gamification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3611880"/>
            <a:ext cx="6400800" cy="1325880"/>
          </a:xfrm>
          <a:prstGeom prst="rect">
            <a:avLst/>
          </a:prstGeom>
          <a:solidFill>
            <a:srgbClr val="F2F1FC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611880"/>
            <a:ext cx="6126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course management system, builds knowledge graph, implements analytics, and gamified learning.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737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37760"/>
            <a:ext cx="1463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Kashif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231568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493776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49377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Teacher Supervision, Assignment Evaluation, Adaptive Engine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4937760"/>
            <a:ext cx="6400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937760"/>
            <a:ext cx="6126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enrollment system, AI supervision workflow, assignment evaluation, and adaptive learning engine.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Gantt Chart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3192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9684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25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6176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744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9160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1728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25652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822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521440" y="1737360"/>
            <a:ext cx="0" cy="3840480"/>
          </a:xfrm>
          <a:prstGeom prst="line">
            <a:avLst/>
          </a:prstGeom>
          <a:noFill/>
          <a:ln w="9525">
            <a:solidFill>
              <a:srgbClr val="E3E1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System Design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19019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1E8E5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Course Management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75200" y="23591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+ Coordinator Roles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18480" y="2816352"/>
            <a:ext cx="843280" cy="310896"/>
          </a:xfrm>
          <a:prstGeom prst="roundRect">
            <a:avLst>
              <a:gd name="adj" fmla="val 14706"/>
            </a:avLst>
          </a:prstGeom>
          <a:solidFill>
            <a:srgbClr val="1E8E5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+ RAG 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61760" y="32735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1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Refinement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05040" y="37307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C08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+ Adaptive Engine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48320" y="4187952"/>
            <a:ext cx="168656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 + Analytics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13240" y="46451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 &amp; Pilot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56520" y="51023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31920" y="5806440"/>
            <a:ext cx="228600" cy="18288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5" name="Text 33"/>
          <p:cNvSpPr/>
          <p:nvPr/>
        </p:nvSpPr>
        <p:spPr>
          <a:xfrm>
            <a:off x="422452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5806440"/>
            <a:ext cx="228600" cy="182880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37" name="Text 35"/>
          <p:cNvSpPr/>
          <p:nvPr/>
        </p:nvSpPr>
        <p:spPr>
          <a:xfrm>
            <a:off x="587044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5806440"/>
            <a:ext cx="2286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9" name="Text 37"/>
          <p:cNvSpPr/>
          <p:nvPr/>
        </p:nvSpPr>
        <p:spPr>
          <a:xfrm>
            <a:off x="751636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Scalability &amp;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A2F8F"/>
          </a:solidFill>
          <a:ln/>
        </p:spPr>
      </p:sp>
      <p:sp>
        <p:nvSpPr>
          <p:cNvPr id="5" name="Shape 3"/>
          <p:cNvSpPr/>
          <p:nvPr/>
        </p:nvSpPr>
        <p:spPr>
          <a:xfrm>
            <a:off x="1641348" y="1856232"/>
            <a:ext cx="512064" cy="512064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2009851"/>
            <a:ext cx="256032" cy="204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414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715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concept-level learning paths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F35A8"/>
          </a:solidFill>
          <a:ln/>
        </p:spPr>
      </p:sp>
      <p:sp>
        <p:nvSpPr>
          <p:cNvPr id="10" name="Shape 7"/>
          <p:cNvSpPr/>
          <p:nvPr/>
        </p:nvSpPr>
        <p:spPr>
          <a:xfrm>
            <a:off x="4338828" y="1856232"/>
            <a:ext cx="512064" cy="512064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009851"/>
            <a:ext cx="256032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414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4720" y="2715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teaching with full oversight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A2F8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36308" y="1856232"/>
            <a:ext cx="512064" cy="512064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19842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414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72200" y="2715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curriculum intelligence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732520" y="16916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F35A8"/>
          </a:solidFill>
          <a:ln/>
        </p:spPr>
      </p:sp>
      <p:sp>
        <p:nvSpPr>
          <p:cNvPr id="20" name="Shape 15"/>
          <p:cNvSpPr/>
          <p:nvPr/>
        </p:nvSpPr>
        <p:spPr>
          <a:xfrm>
            <a:off x="9733788" y="1856232"/>
            <a:ext cx="512064" cy="512064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804" y="19842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23960" y="24414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869680" y="2715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academic decisions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22960" y="3749040"/>
            <a:ext cx="10515600" cy="0"/>
          </a:xfrm>
          <a:prstGeom prst="line">
            <a:avLst/>
          </a:prstGeom>
          <a:noFill/>
          <a:ln w="25400">
            <a:solidFill>
              <a:srgbClr val="E3E1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0664" y="3666744"/>
            <a:ext cx="164592" cy="164592"/>
          </a:xfrm>
          <a:prstGeom prst="ellipse">
            <a:avLst/>
          </a:prstGeom>
          <a:solidFill>
            <a:srgbClr val="7B5C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22960" y="4251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Completion &amp; AU Pilot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45864" y="3666744"/>
            <a:ext cx="164592" cy="164592"/>
          </a:xfrm>
          <a:prstGeom prst="ellipse">
            <a:avLst/>
          </a:prstGeom>
          <a:solidFill>
            <a:srgbClr val="7B5C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13944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139440" y="4251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Pilot Expansion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751064" y="3666744"/>
            <a:ext cx="164592" cy="164592"/>
          </a:xfrm>
          <a:prstGeom prst="ellipse">
            <a:avLst/>
          </a:prstGeom>
          <a:solidFill>
            <a:srgbClr val="7B5C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64464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644640" y="4251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Multi-University Deployment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11256264" y="3666744"/>
            <a:ext cx="164592" cy="164592"/>
          </a:xfrm>
          <a:prstGeom prst="ellipse">
            <a:avLst/>
          </a:prstGeom>
          <a:solidFill>
            <a:srgbClr val="7B5C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961120" y="3913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8961120" y="4251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LMS Integrations · Multilingual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Wang, Z. Mao, B. Wang and L. Guo, “Knowledge Graph Embedding: A Survey of Approaches and Applications,” IEEE Transactions on Knowledge and Data Engineering, vol. 29, no. 12, pp. 2724–2743, Dec. 2017.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1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P. Woolf, Building Intelligent Interactive Tutors. Morgan Kaufmann, 2009.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6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114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Doshi-Velez and B. Kim, “Towards A Rigorous Science of Interpretable Machine Learning,” arXiv:1702.08608, 2017.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1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51663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Kavitha Ganesan and L. Raj, “Educational Data Mining and Learning Analytics,” arXiv, June 2017.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2A2F8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A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4540" y="2103120"/>
            <a:ext cx="822960" cy="82296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7" name="Text 5"/>
          <p:cNvSpPr/>
          <p:nvPr/>
        </p:nvSpPr>
        <p:spPr>
          <a:xfrm>
            <a:off x="20345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Latif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55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231662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6850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Content Upload · AI Content Generation · Notifications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1012" y="2103120"/>
            <a:ext cx="822960" cy="82296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13" name="Text 11"/>
          <p:cNvSpPr/>
          <p:nvPr/>
        </p:nvSpPr>
        <p:spPr>
          <a:xfrm>
            <a:off x="581101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9432" y="3063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3355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231627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0872" y="36850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Mgmt · Knowledge Graph · Analytics · Gamification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38744" y="178308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E2050"/>
          </a:solidFill>
          <a:ln w="12700">
            <a:solidFill>
              <a:srgbClr val="3A3D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87484" y="2103120"/>
            <a:ext cx="822960" cy="822960"/>
          </a:xfrm>
          <a:prstGeom prst="ellipse">
            <a:avLst/>
          </a:prstGeom>
          <a:solidFill>
            <a:srgbClr val="7B5CFA"/>
          </a:solidFill>
          <a:ln/>
        </p:spPr>
      </p:sp>
      <p:sp>
        <p:nvSpPr>
          <p:cNvPr id="19" name="Text 17"/>
          <p:cNvSpPr/>
          <p:nvPr/>
        </p:nvSpPr>
        <p:spPr>
          <a:xfrm>
            <a:off x="958748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75904" y="3063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Kashif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5904" y="3355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231568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67344" y="36850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· Supervision · Assignment Evaluation · Adaptive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</a:t>
            </a:r>
            <a:pPr algn="ctr" indent="0" marL="0">
              <a:buNone/>
            </a:pPr>
            <a:r>
              <a:rPr lang="en-US" sz="1150" dirty="0">
                <a:solidFill>
                  <a:srgbClr val="9C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Air University, Islamabad   |   Contact: mamoona@lateef.dev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6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Reimagining Higher Education through Knowledge Graphs and Artificial Intelligence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ConceptIntel — P@SHA ICT Awards 2026</dc:title>
  <dc:subject>PptxGenJS Presentation</dc:subject>
  <dc:creator>ConceptIntel Team</dc:creator>
  <cp:lastModifiedBy>ConceptIntel Team</cp:lastModifiedBy>
  <cp:revision>1</cp:revision>
  <dcterms:created xsi:type="dcterms:W3CDTF">2026-07-25T13:45:30Z</dcterms:created>
  <dcterms:modified xsi:type="dcterms:W3CDTF">2026-07-25T13:45:30Z</dcterms:modified>
</cp:coreProperties>
</file>