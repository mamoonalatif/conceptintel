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8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  <p:sldId id="278" r:id="rId23"/>
    <p:sldId id="279" r:id="rId24"/>
    <p:sldId id="281" r:id="rId25"/>
    <p:sldId id="282" r:id="rId26"/>
    <p:sldId id="283" r:id="rId27"/>
    <p:sldId id="284" r:id="rId28"/>
    <p:sldId id="285" r:id="rId29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7A66"/>
    <a:srgbClr val="128872"/>
    <a:srgbClr val="0C584A"/>
    <a:srgbClr val="1ABC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1936C1-43B3-4CC3-8C2B-356BACE09E30}" v="8" dt="2026-07-26T17:39:40.215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1662_Mamoona ." userId="b7081f7e7da24230" providerId="LiveId" clId="{91F99260-498A-4FEC-A0A5-5F34A1DABEDB}"/>
    <pc:docChg chg="undo redo custSel addSld delSld modSld sldOrd">
      <pc:chgData name="231662_Mamoona ." userId="b7081f7e7da24230" providerId="LiveId" clId="{91F99260-498A-4FEC-A0A5-5F34A1DABEDB}" dt="2026-07-26T18:33:17.206" v="472" actId="20577"/>
      <pc:docMkLst>
        <pc:docMk/>
      </pc:docMkLst>
      <pc:sldChg chg="addSp delSp modSp mod">
        <pc:chgData name="231662_Mamoona ." userId="b7081f7e7da24230" providerId="LiveId" clId="{91F99260-498A-4FEC-A0A5-5F34A1DABEDB}" dt="2026-07-26T18:33:17.206" v="472" actId="20577"/>
        <pc:sldMkLst>
          <pc:docMk/>
          <pc:sldMk cId="0" sldId="256"/>
        </pc:sldMkLst>
        <pc:spChg chg="add del mod">
          <ac:chgData name="231662_Mamoona ." userId="b7081f7e7da24230" providerId="LiveId" clId="{91F99260-498A-4FEC-A0A5-5F34A1DABEDB}" dt="2026-07-26T18:33:17.206" v="472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8:32:57.736" v="44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09:59.269" v="5" actId="14100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231662_Mamoona ." userId="b7081f7e7da24230" providerId="LiveId" clId="{91F99260-498A-4FEC-A0A5-5F34A1DABEDB}" dt="2026-07-26T17:10:45.676" v="17" actId="478"/>
          <ac:spMkLst>
            <pc:docMk/>
            <pc:sldMk cId="0" sldId="256"/>
            <ac:spMk id="8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0:20.371" v="11" actId="478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231662_Mamoona ." userId="b7081f7e7da24230" providerId="LiveId" clId="{91F99260-498A-4FEC-A0A5-5F34A1DABEDB}" dt="2026-07-26T17:10:14.415" v="9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0:22.964" v="12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0:09.041" v="7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0:25.242" v="13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0:17.516" v="10" actId="47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1:02.851" v="2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2:36.165" v="115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1:06.493" v="21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09:41.167" v="1" actId="1410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09:53.566" v="4" actId="1076"/>
          <ac:spMkLst>
            <pc:docMk/>
            <pc:sldMk cId="0" sldId="256"/>
            <ac:spMk id="20" creationId="{00000000-0000-0000-0000-000000000000}"/>
          </ac:spMkLst>
        </pc:spChg>
        <pc:spChg chg="add mod">
          <ac:chgData name="231662_Mamoona ." userId="b7081f7e7da24230" providerId="LiveId" clId="{91F99260-498A-4FEC-A0A5-5F34A1DABEDB}" dt="2026-07-26T17:12:31.490" v="114" actId="1076"/>
          <ac:spMkLst>
            <pc:docMk/>
            <pc:sldMk cId="0" sldId="256"/>
            <ac:spMk id="22" creationId="{E5ADE440-3D95-D54C-0540-330A56DE5298}"/>
          </ac:spMkLst>
        </pc:spChg>
        <pc:picChg chg="mod">
          <ac:chgData name="231662_Mamoona ." userId="b7081f7e7da24230" providerId="LiveId" clId="{91F99260-498A-4FEC-A0A5-5F34A1DABEDB}" dt="2026-07-26T17:12:43.957" v="117" actId="1076"/>
          <ac:picMkLst>
            <pc:docMk/>
            <pc:sldMk cId="0" sldId="256"/>
            <ac:picMk id="19" creationId="{00000000-0000-0000-0000-000000000000}"/>
          </ac:picMkLst>
        </pc:picChg>
      </pc:sldChg>
      <pc:sldChg chg="modSp mod">
        <pc:chgData name="231662_Mamoona ." userId="b7081f7e7da24230" providerId="LiveId" clId="{91F99260-498A-4FEC-A0A5-5F34A1DABEDB}" dt="2026-07-26T17:13:27.067" v="123" actId="1076"/>
        <pc:sldMkLst>
          <pc:docMk/>
          <pc:sldMk cId="0" sldId="257"/>
        </pc:sldMkLst>
        <pc:spChg chg="mod">
          <ac:chgData name="231662_Mamoona ." userId="b7081f7e7da24230" providerId="LiveId" clId="{91F99260-498A-4FEC-A0A5-5F34A1DABEDB}" dt="2026-07-26T17:13:21.477" v="122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3:27.067" v="123" actId="1076"/>
          <ac:spMkLst>
            <pc:docMk/>
            <pc:sldMk cId="0" sldId="257"/>
            <ac:spMk id="7" creationId="{00000000-0000-0000-0000-000000000000}"/>
          </ac:spMkLst>
        </pc:spChg>
      </pc:sldChg>
      <pc:sldChg chg="addSp delSp modSp mod">
        <pc:chgData name="231662_Mamoona ." userId="b7081f7e7da24230" providerId="LiveId" clId="{91F99260-498A-4FEC-A0A5-5F34A1DABEDB}" dt="2026-07-26T17:33:13.425" v="364" actId="14100"/>
        <pc:sldMkLst>
          <pc:docMk/>
          <pc:sldMk cId="0" sldId="258"/>
        </pc:sldMkLst>
        <pc:spChg chg="del">
          <ac:chgData name="231662_Mamoona ." userId="b7081f7e7da24230" providerId="LiveId" clId="{91F99260-498A-4FEC-A0A5-5F34A1DABEDB}" dt="2026-07-26T17:32:08.373" v="355" actId="478"/>
          <ac:spMkLst>
            <pc:docMk/>
            <pc:sldMk cId="0" sldId="258"/>
            <ac:spMk id="4" creationId="{00000000-0000-0000-0000-000000000000}"/>
          </ac:spMkLst>
        </pc:spChg>
        <pc:spChg chg="del mod">
          <ac:chgData name="231662_Mamoona ." userId="b7081f7e7da24230" providerId="LiveId" clId="{91F99260-498A-4FEC-A0A5-5F34A1DABEDB}" dt="2026-07-26T17:32:26.154" v="357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49.088" v="326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47.139" v="325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51.058" v="327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21.288" v="315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52.593" v="328" actId="478"/>
          <ac:spMkLst>
            <pc:docMk/>
            <pc:sldMk cId="0" sldId="258"/>
            <ac:spMk id="10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17.879" v="314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25.233" v="317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41.656" v="323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44.232" v="324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38.933" v="322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23.951" v="316" actId="478"/>
          <ac:spMkLst>
            <pc:docMk/>
            <pc:sldMk cId="0" sldId="258"/>
            <ac:spMk id="16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32.337" v="320" actId="478"/>
          <ac:spMkLst>
            <pc:docMk/>
            <pc:sldMk cId="0" sldId="258"/>
            <ac:spMk id="17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30.233" v="319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27.338" v="318" actId="478"/>
          <ac:spMkLst>
            <pc:docMk/>
            <pc:sldMk cId="0" sldId="258"/>
            <ac:spMk id="19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28:33.936" v="321" actId="478"/>
          <ac:spMkLst>
            <pc:docMk/>
            <pc:sldMk cId="0" sldId="258"/>
            <ac:spMk id="20" creationId="{00000000-0000-0000-0000-000000000000}"/>
          </ac:spMkLst>
        </pc:spChg>
        <pc:spChg chg="add del mod">
          <ac:chgData name="231662_Mamoona ." userId="b7081f7e7da24230" providerId="LiveId" clId="{91F99260-498A-4FEC-A0A5-5F34A1DABEDB}" dt="2026-07-26T17:31:14.668" v="350" actId="478"/>
          <ac:spMkLst>
            <pc:docMk/>
            <pc:sldMk cId="0" sldId="258"/>
            <ac:spMk id="24" creationId="{83AE4034-11D3-38C6-C4C5-DFFF29F04F7C}"/>
          </ac:spMkLst>
        </pc:spChg>
        <pc:spChg chg="add mod">
          <ac:chgData name="231662_Mamoona ." userId="b7081f7e7da24230" providerId="LiveId" clId="{91F99260-498A-4FEC-A0A5-5F34A1DABEDB}" dt="2026-07-26T17:29:20.568" v="335"/>
          <ac:spMkLst>
            <pc:docMk/>
            <pc:sldMk cId="0" sldId="258"/>
            <ac:spMk id="25" creationId="{CE0B7926-C2C1-382D-C088-6C23EED6611C}"/>
          </ac:spMkLst>
        </pc:spChg>
        <pc:spChg chg="add mod">
          <ac:chgData name="231662_Mamoona ." userId="b7081f7e7da24230" providerId="LiveId" clId="{91F99260-498A-4FEC-A0A5-5F34A1DABEDB}" dt="2026-07-26T17:33:00.754" v="361" actId="2711"/>
          <ac:spMkLst>
            <pc:docMk/>
            <pc:sldMk cId="0" sldId="258"/>
            <ac:spMk id="26" creationId="{7371671A-6D0D-982F-7752-C31E672794E0}"/>
          </ac:spMkLst>
        </pc:spChg>
        <pc:spChg chg="add mod">
          <ac:chgData name="231662_Mamoona ." userId="b7081f7e7da24230" providerId="LiveId" clId="{91F99260-498A-4FEC-A0A5-5F34A1DABEDB}" dt="2026-07-26T17:33:13.425" v="364" actId="14100"/>
          <ac:spMkLst>
            <pc:docMk/>
            <pc:sldMk cId="0" sldId="258"/>
            <ac:spMk id="28" creationId="{6A189739-80D6-C621-B6F4-76F00C209E5E}"/>
          </ac:spMkLst>
        </pc:spChg>
      </pc:sldChg>
      <pc:sldChg chg="addSp delSp modSp mod ord">
        <pc:chgData name="231662_Mamoona ." userId="b7081f7e7da24230" providerId="LiveId" clId="{91F99260-498A-4FEC-A0A5-5F34A1DABEDB}" dt="2026-07-26T17:27:50.977" v="313"/>
        <pc:sldMkLst>
          <pc:docMk/>
          <pc:sldMk cId="0" sldId="259"/>
        </pc:sldMkLst>
        <pc:spChg chg="mod">
          <ac:chgData name="231662_Mamoona ." userId="b7081f7e7da24230" providerId="LiveId" clId="{91F99260-498A-4FEC-A0A5-5F34A1DABEDB}" dt="2026-07-26T17:21:52.231" v="277" actId="12789"/>
          <ac:spMkLst>
            <pc:docMk/>
            <pc:sldMk cId="0" sldId="259"/>
            <ac:spMk id="4" creationId="{00000000-0000-0000-0000-000000000000}"/>
          </ac:spMkLst>
        </pc:spChg>
        <pc:graphicFrameChg chg="add del modGraphic">
          <ac:chgData name="231662_Mamoona ." userId="b7081f7e7da24230" providerId="LiveId" clId="{91F99260-498A-4FEC-A0A5-5F34A1DABEDB}" dt="2026-07-26T17:22:50.556" v="286" actId="21"/>
          <ac:graphicFrameMkLst>
            <pc:docMk/>
            <pc:sldMk cId="0" sldId="259"/>
            <ac:graphicFrameMk id="106" creationId="{12116323-4958-613A-1867-F9179DBF59E2}"/>
          </ac:graphicFrameMkLst>
        </pc:graphicFrameChg>
      </pc:sldChg>
      <pc:sldChg chg="modSp mod">
        <pc:chgData name="231662_Mamoona ." userId="b7081f7e7da24230" providerId="LiveId" clId="{91F99260-498A-4FEC-A0A5-5F34A1DABEDB}" dt="2026-07-26T17:13:48.138" v="132" actId="20577"/>
        <pc:sldMkLst>
          <pc:docMk/>
          <pc:sldMk cId="0" sldId="260"/>
        </pc:sldMkLst>
        <pc:spChg chg="mod">
          <ac:chgData name="231662_Mamoona ." userId="b7081f7e7da24230" providerId="LiveId" clId="{91F99260-498A-4FEC-A0A5-5F34A1DABEDB}" dt="2026-07-26T17:13:48.138" v="132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231662_Mamoona ." userId="b7081f7e7da24230" providerId="LiveId" clId="{91F99260-498A-4FEC-A0A5-5F34A1DABEDB}" dt="2026-07-26T17:13:59.460" v="143" actId="20577"/>
        <pc:sldMkLst>
          <pc:docMk/>
          <pc:sldMk cId="0" sldId="261"/>
        </pc:sldMkLst>
        <pc:spChg chg="mod">
          <ac:chgData name="231662_Mamoona ." userId="b7081f7e7da24230" providerId="LiveId" clId="{91F99260-498A-4FEC-A0A5-5F34A1DABEDB}" dt="2026-07-26T17:13:55.069" v="13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3:59.460" v="143" actId="20577"/>
          <ac:spMkLst>
            <pc:docMk/>
            <pc:sldMk cId="0" sldId="261"/>
            <ac:spMk id="3" creationId="{00000000-0000-0000-0000-000000000000}"/>
          </ac:spMkLst>
        </pc:spChg>
      </pc:sldChg>
      <pc:sldChg chg="addSp delSp modSp mod">
        <pc:chgData name="231662_Mamoona ." userId="b7081f7e7da24230" providerId="LiveId" clId="{91F99260-498A-4FEC-A0A5-5F34A1DABEDB}" dt="2026-07-26T17:18:57.585" v="223" actId="22"/>
        <pc:sldMkLst>
          <pc:docMk/>
          <pc:sldMk cId="0" sldId="262"/>
        </pc:sldMkLst>
        <pc:spChg chg="mod">
          <ac:chgData name="231662_Mamoona ." userId="b7081f7e7da24230" providerId="LiveId" clId="{91F99260-498A-4FEC-A0A5-5F34A1DABEDB}" dt="2026-07-26T17:14:05.448" v="151" actId="20577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231662_Mamoona ." userId="b7081f7e7da24230" providerId="LiveId" clId="{91F99260-498A-4FEC-A0A5-5F34A1DABEDB}" dt="2026-07-26T17:18:57.585" v="223" actId="22"/>
          <ac:spMkLst>
            <pc:docMk/>
            <pc:sldMk cId="0" sldId="262"/>
            <ac:spMk id="15" creationId="{9E37567D-02D1-EBED-FFC2-5C30A3B85F50}"/>
          </ac:spMkLst>
        </pc:spChg>
        <pc:spChg chg="add del">
          <ac:chgData name="231662_Mamoona ." userId="b7081f7e7da24230" providerId="LiveId" clId="{91F99260-498A-4FEC-A0A5-5F34A1DABEDB}" dt="2026-07-26T17:18:57.585" v="223" actId="22"/>
          <ac:spMkLst>
            <pc:docMk/>
            <pc:sldMk cId="0" sldId="262"/>
            <ac:spMk id="17" creationId="{D4D53F8A-A5AD-209A-3B32-2C1EA4A8D660}"/>
          </ac:spMkLst>
        </pc:spChg>
        <pc:spChg chg="add del">
          <ac:chgData name="231662_Mamoona ." userId="b7081f7e7da24230" providerId="LiveId" clId="{91F99260-498A-4FEC-A0A5-5F34A1DABEDB}" dt="2026-07-26T17:18:57.585" v="223" actId="22"/>
          <ac:spMkLst>
            <pc:docMk/>
            <pc:sldMk cId="0" sldId="262"/>
            <ac:spMk id="19" creationId="{B1FECCDC-5855-29CD-208B-E69F3EA23AE0}"/>
          </ac:spMkLst>
        </pc:spChg>
        <pc:spChg chg="add del">
          <ac:chgData name="231662_Mamoona ." userId="b7081f7e7da24230" providerId="LiveId" clId="{91F99260-498A-4FEC-A0A5-5F34A1DABEDB}" dt="2026-07-26T17:18:57.585" v="223" actId="22"/>
          <ac:spMkLst>
            <pc:docMk/>
            <pc:sldMk cId="0" sldId="262"/>
            <ac:spMk id="21" creationId="{3857BBA3-F044-7EA6-2384-26E183296A5C}"/>
          </ac:spMkLst>
        </pc:spChg>
      </pc:sldChg>
      <pc:sldChg chg="addSp delSp modSp mod">
        <pc:chgData name="231662_Mamoona ." userId="b7081f7e7da24230" providerId="LiveId" clId="{91F99260-498A-4FEC-A0A5-5F34A1DABEDB}" dt="2026-07-26T17:20:04.490" v="260" actId="22"/>
        <pc:sldMkLst>
          <pc:docMk/>
          <pc:sldMk cId="0" sldId="263"/>
        </pc:sldMkLst>
        <pc:spChg chg="mod">
          <ac:chgData name="231662_Mamoona ." userId="b7081f7e7da24230" providerId="LiveId" clId="{91F99260-498A-4FEC-A0A5-5F34A1DABEDB}" dt="2026-07-26T17:19:35.877" v="252" actId="20577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231662_Mamoona ." userId="b7081f7e7da24230" providerId="LiveId" clId="{91F99260-498A-4FEC-A0A5-5F34A1DABEDB}" dt="2026-07-26T17:20:03.983" v="259" actId="478"/>
          <ac:spMkLst>
            <pc:docMk/>
            <pc:sldMk cId="0" sldId="263"/>
            <ac:spMk id="3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43.670" v="254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57.135" v="258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43.670" v="254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51.296" v="257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43.670" v="254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48.660" v="256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19:43.670" v="254" actId="478"/>
          <ac:spMkLst>
            <pc:docMk/>
            <pc:sldMk cId="0" sldId="263"/>
            <ac:spMk id="10" creationId="{00000000-0000-0000-0000-000000000000}"/>
          </ac:spMkLst>
        </pc:spChg>
        <pc:spChg chg="del mod">
          <ac:chgData name="231662_Mamoona ." userId="b7081f7e7da24230" providerId="LiveId" clId="{91F99260-498A-4FEC-A0A5-5F34A1DABEDB}" dt="2026-07-26T17:19:46.419" v="255" actId="478"/>
          <ac:spMkLst>
            <pc:docMk/>
            <pc:sldMk cId="0" sldId="263"/>
            <ac:spMk id="11" creationId="{00000000-0000-0000-0000-000000000000}"/>
          </ac:spMkLst>
        </pc:spChg>
        <pc:picChg chg="add">
          <ac:chgData name="231662_Mamoona ." userId="b7081f7e7da24230" providerId="LiveId" clId="{91F99260-498A-4FEC-A0A5-5F34A1DABEDB}" dt="2026-07-26T17:20:04.490" v="260" actId="22"/>
          <ac:picMkLst>
            <pc:docMk/>
            <pc:sldMk cId="0" sldId="263"/>
            <ac:picMk id="15" creationId="{0C010626-89A6-57FA-E911-88AC5FB92337}"/>
          </ac:picMkLst>
        </pc:picChg>
      </pc:sldChg>
      <pc:sldChg chg="modSp mod">
        <pc:chgData name="231662_Mamoona ." userId="b7081f7e7da24230" providerId="LiveId" clId="{91F99260-498A-4FEC-A0A5-5F34A1DABEDB}" dt="2026-07-26T17:14:41.096" v="173" actId="20577"/>
        <pc:sldMkLst>
          <pc:docMk/>
          <pc:sldMk cId="0" sldId="268"/>
        </pc:sldMkLst>
        <pc:spChg chg="mod">
          <ac:chgData name="231662_Mamoona ." userId="b7081f7e7da24230" providerId="LiveId" clId="{91F99260-498A-4FEC-A0A5-5F34A1DABEDB}" dt="2026-07-26T17:14:41.096" v="173" actId="20577"/>
          <ac:spMkLst>
            <pc:docMk/>
            <pc:sldMk cId="0" sldId="268"/>
            <ac:spMk id="3" creationId="{00000000-0000-0000-0000-000000000000}"/>
          </ac:spMkLst>
        </pc:spChg>
      </pc:sldChg>
      <pc:sldChg chg="modSp mod">
        <pc:chgData name="231662_Mamoona ." userId="b7081f7e7da24230" providerId="LiveId" clId="{91F99260-498A-4FEC-A0A5-5F34A1DABEDB}" dt="2026-07-26T17:14:46.159" v="186" actId="20577"/>
        <pc:sldMkLst>
          <pc:docMk/>
          <pc:sldMk cId="0" sldId="269"/>
        </pc:sldMkLst>
        <pc:spChg chg="mod">
          <ac:chgData name="231662_Mamoona ." userId="b7081f7e7da24230" providerId="LiveId" clId="{91F99260-498A-4FEC-A0A5-5F34A1DABEDB}" dt="2026-07-26T17:14:46.159" v="186" actId="20577"/>
          <ac:spMkLst>
            <pc:docMk/>
            <pc:sldMk cId="0" sldId="269"/>
            <ac:spMk id="3" creationId="{00000000-0000-0000-0000-000000000000}"/>
          </ac:spMkLst>
        </pc:spChg>
      </pc:sldChg>
      <pc:sldChg chg="addSp delSp modSp mod">
        <pc:chgData name="231662_Mamoona ." userId="b7081f7e7da24230" providerId="LiveId" clId="{91F99260-498A-4FEC-A0A5-5F34A1DABEDB}" dt="2026-07-26T17:38:35.554" v="433" actId="255"/>
        <pc:sldMkLst>
          <pc:docMk/>
          <pc:sldMk cId="0" sldId="271"/>
        </pc:sldMkLst>
        <pc:spChg chg="del">
          <ac:chgData name="231662_Mamoona ." userId="b7081f7e7da24230" providerId="LiveId" clId="{91F99260-498A-4FEC-A0A5-5F34A1DABEDB}" dt="2026-07-26T17:36:33.869" v="383" actId="478"/>
          <ac:spMkLst>
            <pc:docMk/>
            <pc:sldMk cId="0" sldId="271"/>
            <ac:spMk id="4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7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8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9" creationId="{00000000-0000-0000-0000-000000000000}"/>
          </ac:spMkLst>
        </pc:spChg>
        <pc:spChg chg="del mod">
          <ac:chgData name="231662_Mamoona ." userId="b7081f7e7da24230" providerId="LiveId" clId="{91F99260-498A-4FEC-A0A5-5F34A1DABEDB}" dt="2026-07-26T17:36:38.777" v="385" actId="478"/>
          <ac:spMkLst>
            <pc:docMk/>
            <pc:sldMk cId="0" sldId="271"/>
            <ac:spMk id="11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40.059" v="386" actId="478"/>
          <ac:spMkLst>
            <pc:docMk/>
            <pc:sldMk cId="0" sldId="271"/>
            <ac:spMk id="12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37:49.898" v="399" actId="14100"/>
          <ac:spMkLst>
            <pc:docMk/>
            <pc:sldMk cId="0" sldId="271"/>
            <ac:spMk id="19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29.015" v="381" actId="478"/>
          <ac:spMkLst>
            <pc:docMk/>
            <pc:sldMk cId="0" sldId="271"/>
            <ac:spMk id="22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42.072" v="387" actId="478"/>
          <ac:spMkLst>
            <pc:docMk/>
            <pc:sldMk cId="0" sldId="271"/>
            <ac:spMk id="26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32.088" v="382" actId="478"/>
          <ac:spMkLst>
            <pc:docMk/>
            <pc:sldMk cId="0" sldId="271"/>
            <ac:spMk id="27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32.088" v="382" actId="478"/>
          <ac:spMkLst>
            <pc:docMk/>
            <pc:sldMk cId="0" sldId="271"/>
            <ac:spMk id="28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32.088" v="382" actId="478"/>
          <ac:spMkLst>
            <pc:docMk/>
            <pc:sldMk cId="0" sldId="271"/>
            <ac:spMk id="29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32.088" v="382" actId="478"/>
          <ac:spMkLst>
            <pc:docMk/>
            <pc:sldMk cId="0" sldId="271"/>
            <ac:spMk id="30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32.088" v="382" actId="478"/>
          <ac:spMkLst>
            <pc:docMk/>
            <pc:sldMk cId="0" sldId="271"/>
            <ac:spMk id="31" creationId="{00000000-0000-0000-0000-000000000000}"/>
          </ac:spMkLst>
        </pc:spChg>
        <pc:spChg chg="del">
          <ac:chgData name="231662_Mamoona ." userId="b7081f7e7da24230" providerId="LiveId" clId="{91F99260-498A-4FEC-A0A5-5F34A1DABEDB}" dt="2026-07-26T17:36:32.088" v="382" actId="478"/>
          <ac:spMkLst>
            <pc:docMk/>
            <pc:sldMk cId="0" sldId="271"/>
            <ac:spMk id="32" creationId="{00000000-0000-0000-0000-000000000000}"/>
          </ac:spMkLst>
        </pc:spChg>
        <pc:graphicFrameChg chg="add del mod">
          <ac:chgData name="231662_Mamoona ." userId="b7081f7e7da24230" providerId="LiveId" clId="{91F99260-498A-4FEC-A0A5-5F34A1DABEDB}" dt="2026-07-26T17:36:32.088" v="382" actId="478"/>
          <ac:graphicFrameMkLst>
            <pc:docMk/>
            <pc:sldMk cId="0" sldId="271"/>
            <ac:graphicFrameMk id="35" creationId="{9F0BB7EB-CB53-E12D-7B97-5DFA3977EEC7}"/>
          </ac:graphicFrameMkLst>
        </pc:graphicFrameChg>
        <pc:graphicFrameChg chg="add mod modGraphic">
          <ac:chgData name="231662_Mamoona ." userId="b7081f7e7da24230" providerId="LiveId" clId="{91F99260-498A-4FEC-A0A5-5F34A1DABEDB}" dt="2026-07-26T17:38:35.554" v="433" actId="255"/>
          <ac:graphicFrameMkLst>
            <pc:docMk/>
            <pc:sldMk cId="0" sldId="271"/>
            <ac:graphicFrameMk id="36" creationId="{5983514B-4540-09BA-FA52-B874471CF922}"/>
          </ac:graphicFrameMkLst>
        </pc:graphicFrameChg>
      </pc:sldChg>
      <pc:sldChg chg="addSp modSp mod">
        <pc:chgData name="231662_Mamoona ." userId="b7081f7e7da24230" providerId="LiveId" clId="{91F99260-498A-4FEC-A0A5-5F34A1DABEDB}" dt="2026-07-26T17:17:58.803" v="218" actId="1076"/>
        <pc:sldMkLst>
          <pc:docMk/>
          <pc:sldMk cId="0" sldId="274"/>
        </pc:sldMkLst>
        <pc:spChg chg="mod">
          <ac:chgData name="231662_Mamoona ." userId="b7081f7e7da24230" providerId="LiveId" clId="{91F99260-498A-4FEC-A0A5-5F34A1DABEDB}" dt="2026-07-26T17:15:04.903" v="194" actId="20577"/>
          <ac:spMkLst>
            <pc:docMk/>
            <pc:sldMk cId="0" sldId="274"/>
            <ac:spMk id="3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7:23.704" v="212" actId="1076"/>
          <ac:spMkLst>
            <pc:docMk/>
            <pc:sldMk cId="0" sldId="274"/>
            <ac:spMk id="4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6:58.389" v="206" actId="1076"/>
          <ac:spMkLst>
            <pc:docMk/>
            <pc:sldMk cId="0" sldId="274"/>
            <ac:spMk id="5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7:30.406" v="213" actId="1076"/>
          <ac:spMkLst>
            <pc:docMk/>
            <pc:sldMk cId="0" sldId="274"/>
            <ac:spMk id="6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6:54.068" v="205" actId="1076"/>
          <ac:spMkLst>
            <pc:docMk/>
            <pc:sldMk cId="0" sldId="274"/>
            <ac:spMk id="7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7:41.024" v="214" actId="1076"/>
          <ac:spMkLst>
            <pc:docMk/>
            <pc:sldMk cId="0" sldId="274"/>
            <ac:spMk id="8" creationId="{00000000-0000-0000-0000-000000000000}"/>
          </ac:spMkLst>
        </pc:spChg>
        <pc:spChg chg="mod">
          <ac:chgData name="231662_Mamoona ." userId="b7081f7e7da24230" providerId="LiveId" clId="{91F99260-498A-4FEC-A0A5-5F34A1DABEDB}" dt="2026-07-26T17:16:25.184" v="200" actId="1076"/>
          <ac:spMkLst>
            <pc:docMk/>
            <pc:sldMk cId="0" sldId="274"/>
            <ac:spMk id="9" creationId="{00000000-0000-0000-0000-000000000000}"/>
          </ac:spMkLst>
        </pc:spChg>
        <pc:spChg chg="add mod">
          <ac:chgData name="231662_Mamoona ." userId="b7081f7e7da24230" providerId="LiveId" clId="{91F99260-498A-4FEC-A0A5-5F34A1DABEDB}" dt="2026-07-26T17:17:48.484" v="215" actId="1076"/>
          <ac:spMkLst>
            <pc:docMk/>
            <pc:sldMk cId="0" sldId="274"/>
            <ac:spMk id="13" creationId="{C562659B-690A-02BD-7FF0-B0D58020A2AB}"/>
          </ac:spMkLst>
        </pc:spChg>
        <pc:spChg chg="add mod">
          <ac:chgData name="231662_Mamoona ." userId="b7081f7e7da24230" providerId="LiveId" clId="{91F99260-498A-4FEC-A0A5-5F34A1DABEDB}" dt="2026-07-26T17:16:35.617" v="202" actId="1076"/>
          <ac:spMkLst>
            <pc:docMk/>
            <pc:sldMk cId="0" sldId="274"/>
            <ac:spMk id="15" creationId="{D8EDFBF8-AED6-92C7-FD07-D9FC3725BD1A}"/>
          </ac:spMkLst>
        </pc:spChg>
        <pc:spChg chg="add mod">
          <ac:chgData name="231662_Mamoona ." userId="b7081f7e7da24230" providerId="LiveId" clId="{91F99260-498A-4FEC-A0A5-5F34A1DABEDB}" dt="2026-07-26T17:17:53.004" v="216" actId="1076"/>
          <ac:spMkLst>
            <pc:docMk/>
            <pc:sldMk cId="0" sldId="274"/>
            <ac:spMk id="17" creationId="{78E67E8B-F7FE-AAC9-37F9-8D66189D6AB4}"/>
          </ac:spMkLst>
        </pc:spChg>
        <pc:spChg chg="add mod">
          <ac:chgData name="231662_Mamoona ." userId="b7081f7e7da24230" providerId="LiveId" clId="{91F99260-498A-4FEC-A0A5-5F34A1DABEDB}" dt="2026-07-26T17:17:05.824" v="207" actId="1076"/>
          <ac:spMkLst>
            <pc:docMk/>
            <pc:sldMk cId="0" sldId="274"/>
            <ac:spMk id="19" creationId="{8441C90A-F726-040A-6EA5-66B5105750C1}"/>
          </ac:spMkLst>
        </pc:spChg>
        <pc:spChg chg="add mod">
          <ac:chgData name="231662_Mamoona ." userId="b7081f7e7da24230" providerId="LiveId" clId="{91F99260-498A-4FEC-A0A5-5F34A1DABEDB}" dt="2026-07-26T17:16:02.074" v="196" actId="1076"/>
          <ac:spMkLst>
            <pc:docMk/>
            <pc:sldMk cId="0" sldId="274"/>
            <ac:spMk id="21" creationId="{DEEEB603-09EC-4868-EDE3-5AB12665DB29}"/>
          </ac:spMkLst>
        </pc:spChg>
        <pc:spChg chg="add mod">
          <ac:chgData name="231662_Mamoona ." userId="b7081f7e7da24230" providerId="LiveId" clId="{91F99260-498A-4FEC-A0A5-5F34A1DABEDB}" dt="2026-07-26T17:17:14.554" v="209" actId="1076"/>
          <ac:spMkLst>
            <pc:docMk/>
            <pc:sldMk cId="0" sldId="274"/>
            <ac:spMk id="23" creationId="{B31C9350-9C9A-1857-B404-7BC1F4545593}"/>
          </ac:spMkLst>
        </pc:spChg>
        <pc:spChg chg="add mod">
          <ac:chgData name="231662_Mamoona ." userId="b7081f7e7da24230" providerId="LiveId" clId="{91F99260-498A-4FEC-A0A5-5F34A1DABEDB}" dt="2026-07-26T17:17:58.803" v="218" actId="1076"/>
          <ac:spMkLst>
            <pc:docMk/>
            <pc:sldMk cId="0" sldId="274"/>
            <ac:spMk id="25" creationId="{4C844B15-E883-DFD8-F9B8-931D67FBF680}"/>
          </ac:spMkLst>
        </pc:spChg>
      </pc:sldChg>
      <pc:sldChg chg="del">
        <pc:chgData name="231662_Mamoona ." userId="b7081f7e7da24230" providerId="LiveId" clId="{91F99260-498A-4FEC-A0A5-5F34A1DABEDB}" dt="2026-07-26T17:18:01.955" v="219" actId="47"/>
        <pc:sldMkLst>
          <pc:docMk/>
          <pc:sldMk cId="0" sldId="275"/>
        </pc:sldMkLst>
      </pc:sldChg>
      <pc:sldChg chg="del">
        <pc:chgData name="231662_Mamoona ." userId="b7081f7e7da24230" providerId="LiveId" clId="{91F99260-498A-4FEC-A0A5-5F34A1DABEDB}" dt="2026-07-26T17:18:07.283" v="220" actId="47"/>
        <pc:sldMkLst>
          <pc:docMk/>
          <pc:sldMk cId="0" sldId="276"/>
        </pc:sldMkLst>
      </pc:sldChg>
      <pc:sldChg chg="del">
        <pc:chgData name="231662_Mamoona ." userId="b7081f7e7da24230" providerId="LiveId" clId="{91F99260-498A-4FEC-A0A5-5F34A1DABEDB}" dt="2026-07-26T17:18:15.123" v="221" actId="47"/>
        <pc:sldMkLst>
          <pc:docMk/>
          <pc:sldMk cId="0" sldId="280"/>
        </pc:sldMkLst>
      </pc:sldChg>
      <pc:sldChg chg="addSp modSp new del mod">
        <pc:chgData name="231662_Mamoona ." userId="b7081f7e7da24230" providerId="LiveId" clId="{91F99260-498A-4FEC-A0A5-5F34A1DABEDB}" dt="2026-07-26T17:23:27.727" v="294" actId="47"/>
        <pc:sldMkLst>
          <pc:docMk/>
          <pc:sldMk cId="3169902040" sldId="286"/>
        </pc:sldMkLst>
        <pc:graphicFrameChg chg="add modGraphic">
          <ac:chgData name="231662_Mamoona ." userId="b7081f7e7da24230" providerId="LiveId" clId="{91F99260-498A-4FEC-A0A5-5F34A1DABEDB}" dt="2026-07-26T17:23:23.394" v="292" actId="21"/>
          <ac:graphicFrameMkLst>
            <pc:docMk/>
            <pc:sldMk cId="3169902040" sldId="286"/>
            <ac:graphicFrameMk id="3" creationId="{FD336F4C-0E94-7C08-9C57-40BBC2E38DD2}"/>
          </ac:graphicFrameMkLst>
        </pc:graphicFrameChg>
      </pc:sldChg>
      <pc:sldChg chg="addSp delSp modSp add mod">
        <pc:chgData name="231662_Mamoona ." userId="b7081f7e7da24230" providerId="LiveId" clId="{91F99260-498A-4FEC-A0A5-5F34A1DABEDB}" dt="2026-07-26T17:40:04.075" v="441" actId="207"/>
        <pc:sldMkLst>
          <pc:docMk/>
          <pc:sldMk cId="212201433" sldId="287"/>
        </pc:sldMkLst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6" creationId="{FE2C3041-3336-5B84-49AD-9D20E1FDAFB0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8" creationId="{7CC0F984-D0D8-FD34-8A19-F2336D0F45DD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15" creationId="{47238635-1379-68D5-38BC-055590BA83F3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17" creationId="{73D36603-A3AF-60BA-FC13-8B7EC48D90F9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40" creationId="{CBB6502E-D158-F914-4468-16DD1D2A1E9A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41" creationId="{DFD75319-1E2E-1B35-52C4-404D7E285308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51" creationId="{C198ECCE-80B8-2AF0-9119-D195AAA4202D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58" creationId="{5EDBEA8E-4E91-BDF6-B985-9465058020AA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69" creationId="{012A8A52-8C43-2023-3E5C-A4A754DDF1DD}"/>
          </ac:spMkLst>
        </pc:spChg>
        <pc:spChg chg="del">
          <ac:chgData name="231662_Mamoona ." userId="b7081f7e7da24230" providerId="LiveId" clId="{91F99260-498A-4FEC-A0A5-5F34A1DABEDB}" dt="2026-07-26T17:23:13.670" v="291" actId="478"/>
          <ac:spMkLst>
            <pc:docMk/>
            <pc:sldMk cId="212201433" sldId="287"/>
            <ac:spMk id="76" creationId="{B395F701-657E-17AF-2299-5053CECEC6FB}"/>
          </ac:spMkLst>
        </pc:spChg>
        <pc:spChg chg="mod">
          <ac:chgData name="231662_Mamoona ." userId="b7081f7e7da24230" providerId="LiveId" clId="{91F99260-498A-4FEC-A0A5-5F34A1DABEDB}" dt="2026-07-26T17:23:09.366" v="290" actId="1076"/>
          <ac:spMkLst>
            <pc:docMk/>
            <pc:sldMk cId="212201433" sldId="287"/>
            <ac:spMk id="101" creationId="{E95D31C3-CCC6-F539-6169-974D7A8D8308}"/>
          </ac:spMkLst>
        </pc:spChg>
        <pc:graphicFrameChg chg="add del mod modGraphic">
          <ac:chgData name="231662_Mamoona ." userId="b7081f7e7da24230" providerId="LiveId" clId="{91F99260-498A-4FEC-A0A5-5F34A1DABEDB}" dt="2026-07-26T17:25:27.767" v="309" actId="478"/>
          <ac:graphicFrameMkLst>
            <pc:docMk/>
            <pc:sldMk cId="212201433" sldId="287"/>
            <ac:graphicFrameMk id="105" creationId="{5002F4B2-83BC-412A-3AB3-38EFF0C696CC}"/>
          </ac:graphicFrameMkLst>
        </pc:graphicFrameChg>
        <pc:graphicFrameChg chg="add mod modGraphic">
          <ac:chgData name="231662_Mamoona ." userId="b7081f7e7da24230" providerId="LiveId" clId="{91F99260-498A-4FEC-A0A5-5F34A1DABEDB}" dt="2026-07-26T17:40:04.075" v="441" actId="207"/>
          <ac:graphicFrameMkLst>
            <pc:docMk/>
            <pc:sldMk cId="212201433" sldId="287"/>
            <ac:graphicFrameMk id="107" creationId="{7E5797F8-F870-E8DC-ED95-CC9CCFC0A65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5865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23AE8-4B5E-8366-D251-0C2AEAFD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D15D8-8643-9E2C-91E9-56237F454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462D3-622E-7EDD-58AF-0C3722EB7F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B410A-778A-710F-66BB-EC88B72B15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6909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640080" y="548640"/>
            <a:ext cx="530352" cy="530352"/>
          </a:xfrm>
          <a:prstGeom prst="roundRect">
            <a:avLst>
              <a:gd name="adj" fmla="val 22414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2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25880" y="59436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6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ROJECT - EDTECH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</a:t>
            </a:r>
            <a:r>
              <a:rPr lang="en-US" sz="5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43752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Graph–Based Concept Intelligence Platform for Adaptive Higher Education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920739"/>
            <a:ext cx="6766560" cy="0"/>
          </a:xfrm>
          <a:prstGeom prst="line">
            <a:avLst/>
          </a:prstGeom>
          <a:noFill/>
          <a:ln w="12700">
            <a:solidFill>
              <a:srgbClr val="1E2E2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731520" y="4743741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Farid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3833" y="59950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University, Islamabad  |  Faculty of Computing &amp; AI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13176" y="2306028"/>
            <a:ext cx="6883752" cy="3236345"/>
          </a:xfrm>
          <a:prstGeom prst="roundRect">
            <a:avLst>
              <a:gd name="adj" fmla="val 4071"/>
            </a:avLst>
          </a:prstGeom>
          <a:solidFill>
            <a:srgbClr val="17221F"/>
          </a:solidFill>
          <a:ln w="1905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9" name="Image 0" descr="C:\Users\mamoo_degcn9g\AppData\Local\Temp\claude\C--Users-mamoo-degcn9g-OneDrive-Documents-FYP-conceptintel\f051ca33-27d2-49d4-b922-df84a1f16853\scratchpad\pitch/screens/la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1000" y="2411738"/>
            <a:ext cx="6688104" cy="302492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13141" y="5600699"/>
            <a:ext cx="47000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ConceptIntel — real product, not a mockup</a:t>
            </a:r>
            <a:endParaRPr lang="en-US" sz="115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5ADE440-3D95-D54C-0540-330A56DE5298}"/>
              </a:ext>
            </a:extLst>
          </p:cNvPr>
          <p:cNvSpPr/>
          <p:nvPr/>
        </p:nvSpPr>
        <p:spPr>
          <a:xfrm>
            <a:off x="731520" y="39242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Kashif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Rethinking Digital Learning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53184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60120" y="1609344"/>
            <a:ext cx="105613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run on LMS platforms that manage courses and record grades but never measure understanding.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566416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60120" y="2448353"/>
            <a:ext cx="105613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hierarchical: you cannot grasp acceleration without first understanding velocity and time.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279648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960120" y="3035808"/>
            <a:ext cx="1056132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 maps every course into a knowledge graph, so gaps are visible before a final score ever hides them.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“Today's systems measure performance, but they do not measure understanding.”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4846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4008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Subjects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37560" y="47091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3337560" y="4846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33756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47091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035040" y="4846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03504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Modules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732520" y="4709160"/>
            <a:ext cx="2514600" cy="1371600"/>
          </a:xfrm>
          <a:prstGeom prst="roundRect">
            <a:avLst>
              <a:gd name="adj" fmla="val 6667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8732520" y="484632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8732520" y="560527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 in Higher Education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7371671A-6D0D-982F-7752-C31E67279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73" y="2304393"/>
            <a:ext cx="11590854" cy="4760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0" marR="0" lvl="1" indent="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584A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Student-side problems: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C584A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ABC9C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Progression without mastering prerequisites lead to fragmented knowledge</a:t>
            </a: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ABC9C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No concept-level tracking of learning</a:t>
            </a: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ABC9C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Lack of insight into which concepts are weak</a:t>
            </a: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ABC9C"/>
              </a:buClr>
              <a:buSzPts val="2400"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Feedback on assignments is generic, manual, or static</a:t>
            </a: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  <a:p>
            <a:pPr marL="914400" marR="0" lvl="1" indent="-38100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  <a:p>
            <a:pPr marL="508000" marR="0" lvl="1" indent="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C584A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Teacher-side problems: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C584A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  <a:p>
            <a:pPr lvl="1" algn="just">
              <a:lnSpc>
                <a:spcPct val="150000"/>
              </a:lnSpc>
              <a:buClr>
                <a:srgbClr val="1ABC9C"/>
              </a:buClr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Cannot identify struggling concepts easily</a:t>
            </a:r>
          </a:p>
          <a:p>
            <a:pPr lvl="1" algn="just">
              <a:lnSpc>
                <a:spcPct val="150000"/>
              </a:lnSpc>
              <a:buClr>
                <a:srgbClr val="1ABC9C"/>
              </a:buClr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Manual content creation and assignment review is time-consuming</a:t>
            </a:r>
          </a:p>
          <a:p>
            <a:pPr lvl="1" algn="just">
              <a:lnSpc>
                <a:spcPct val="150000"/>
              </a:lnSpc>
              <a:buClr>
                <a:srgbClr val="1ABC9C"/>
              </a:buClr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Limited ability to provide adaptive, personalized guidance</a:t>
            </a:r>
          </a:p>
          <a:p>
            <a:pPr lvl="1" algn="just">
              <a:lnSpc>
                <a:spcPct val="150000"/>
              </a:lnSpc>
              <a:buClr>
                <a:srgbClr val="1ABC9C"/>
              </a:buClr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Arial"/>
                <a:sym typeface="Arial"/>
              </a:rPr>
              <a:t>AI tools are disconnected from course content</a:t>
            </a:r>
          </a:p>
          <a:p>
            <a:pPr marL="508000" marR="0" lvl="1" indent="0" algn="just" defTabSz="914400" rtl="0" eaLnBrk="1" fontAlgn="auto" latinLnBrk="0" hangingPunct="1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cs typeface="Arial"/>
              <a:sym typeface="Arial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189739-80D6-C621-B6F4-76F00C209E5E}"/>
              </a:ext>
            </a:extLst>
          </p:cNvPr>
          <p:cNvSpPr txBox="1"/>
          <p:nvPr/>
        </p:nvSpPr>
        <p:spPr>
          <a:xfrm>
            <a:off x="1281467" y="1704456"/>
            <a:ext cx="104502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C584A"/>
                </a:solidFill>
              </a:rPr>
              <a:t>Traditional platforms are administrative tools, not intelligent learning systems.</a:t>
            </a:r>
          </a:p>
          <a:p>
            <a:endParaRPr lang="en-PK" sz="2400" b="1" dirty="0">
              <a:solidFill>
                <a:srgbClr val="0C584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4D7C9-7DA5-A77A-38AA-D2DAB26C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404B322-3009-6904-3442-7D46E7634A52}"/>
              </a:ext>
            </a:extLst>
          </p:cNvPr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956119-3F07-79E6-C1E6-3621ED68DE37}"/>
              </a:ext>
            </a:extLst>
          </p:cNvPr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vs. ConceptIntel</a:t>
            </a:r>
            <a:endParaRPr lang="en-US" sz="3400" dirty="0"/>
          </a:p>
        </p:txBody>
      </p:sp>
      <p:sp>
        <p:nvSpPr>
          <p:cNvPr id="102" name="Text 100">
            <a:extLst>
              <a:ext uri="{FF2B5EF4-FFF2-40B4-BE49-F238E27FC236}">
                <a16:creationId xmlns:a16="http://schemas.microsoft.com/office/drawing/2014/main" id="{E5DFFFD1-E729-F527-87AF-0702450CFDB4}"/>
              </a:ext>
            </a:extLst>
          </p:cNvPr>
          <p:cNvSpPr/>
          <p:nvPr/>
        </p:nvSpPr>
        <p:spPr>
          <a:xfrm>
            <a:off x="640080" y="59710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 is the only platform in this comparison that checks every single box.</a:t>
            </a:r>
            <a:endParaRPr lang="en-US" sz="1500" dirty="0"/>
          </a:p>
        </p:txBody>
      </p:sp>
      <p:sp>
        <p:nvSpPr>
          <p:cNvPr id="103" name="Text 101">
            <a:extLst>
              <a:ext uri="{FF2B5EF4-FFF2-40B4-BE49-F238E27FC236}">
                <a16:creationId xmlns:a16="http://schemas.microsoft.com/office/drawing/2014/main" id="{DA05D50E-4F36-2889-47F7-37B26C693FA6}"/>
              </a:ext>
            </a:extLst>
          </p:cNvPr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04" name="Text 102">
            <a:extLst>
              <a:ext uri="{FF2B5EF4-FFF2-40B4-BE49-F238E27FC236}">
                <a16:creationId xmlns:a16="http://schemas.microsoft.com/office/drawing/2014/main" id="{EE1F3772-41A5-DE7E-D9E1-189A65AE3848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7E5797F8-F870-E8DC-ED95-CC9CCFC0A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213969"/>
              </p:ext>
            </p:extLst>
          </p:nvPr>
        </p:nvGraphicFramePr>
        <p:xfrm>
          <a:off x="686636" y="1498203"/>
          <a:ext cx="11045116" cy="43891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22915">
                  <a:extLst>
                    <a:ext uri="{9D8B030D-6E8A-4147-A177-3AD203B41FA5}">
                      <a16:colId xmlns:a16="http://schemas.microsoft.com/office/drawing/2014/main" val="1932158058"/>
                    </a:ext>
                  </a:extLst>
                </a:gridCol>
                <a:gridCol w="4853677">
                  <a:extLst>
                    <a:ext uri="{9D8B030D-6E8A-4147-A177-3AD203B41FA5}">
                      <a16:colId xmlns:a16="http://schemas.microsoft.com/office/drawing/2014/main" val="691304313"/>
                    </a:ext>
                  </a:extLst>
                </a:gridCol>
                <a:gridCol w="4168524">
                  <a:extLst>
                    <a:ext uri="{9D8B030D-6E8A-4147-A177-3AD203B41FA5}">
                      <a16:colId xmlns:a16="http://schemas.microsoft.com/office/drawing/2014/main" val="2939111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b="1" dirty="0">
                          <a:solidFill>
                            <a:schemeClr val="bg1"/>
                          </a:solidFill>
                          <a:effectLst/>
                        </a:rPr>
                        <a:t>Application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b="1">
                          <a:solidFill>
                            <a:schemeClr val="bg1"/>
                          </a:solidFill>
                          <a:effectLst/>
                        </a:rPr>
                        <a:t>Limitation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b="1">
                          <a:solidFill>
                            <a:schemeClr val="bg1"/>
                          </a:solidFill>
                          <a:effectLst/>
                        </a:rPr>
                        <a:t>Proposed System (Nodle)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391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Google Classroom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Supports assignments but lacks adaptive learning insights.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Tracks concept mastery and generates quizzes.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217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Coursera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Static learning paths with limited course customization.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Creates dynamic knowledge graphs and adaptive paths.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2799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Khan Academy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Uses predefined content; teachers cannot create concept graphs.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Extracts concepts from uploaded materials automatically.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67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Duolingo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Mainly for language learning with fixed skill tree.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Supports any subject using flexible concept graphs.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365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Socratic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Gives quick answers but does not track progress.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Tracks concept-level progress and recommendations.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954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ChatGPT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Explains topics but not linked to course progress.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Connects AI with course content and analytics.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48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Edkasa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>
                          <a:solidFill>
                            <a:schemeClr val="bg1"/>
                          </a:solidFill>
                          <a:effectLst/>
                        </a:rPr>
                        <a:t>Provides recorded lecs, prep but limited concept-level AI analysis.</a:t>
                      </a:r>
                      <a:endParaRPr lang="en-PK" sz="180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Uses knowledge graphs and adaptive learning to </a:t>
                      </a:r>
                      <a:r>
                        <a:rPr lang="en-PK" sz="1800" dirty="0" err="1">
                          <a:solidFill>
                            <a:schemeClr val="bg1"/>
                          </a:solidFill>
                          <a:effectLst/>
                        </a:rPr>
                        <a:t>analyze</a:t>
                      </a:r>
                      <a:r>
                        <a:rPr lang="en-PK" sz="1800" dirty="0">
                          <a:solidFill>
                            <a:schemeClr val="bg1"/>
                          </a:solidFill>
                          <a:effectLst/>
                        </a:rPr>
                        <a:t> conceptual understanding.</a:t>
                      </a:r>
                      <a:endParaRPr lang="en-PK" sz="1800" dirty="0">
                        <a:solidFill>
                          <a:schemeClr val="bg1"/>
                        </a:solidFill>
                        <a:effectLst/>
                        <a:latin typeface="+mn-lt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7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9310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201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vs. ConceptIntel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37744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Application</a:t>
            </a:r>
            <a:endParaRPr lang="en-PK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017520" y="1645920"/>
            <a:ext cx="141732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3017520" y="164592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645920"/>
            <a:ext cx="141732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4434840" y="164592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141732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852160" y="164592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269480" y="1645920"/>
            <a:ext cx="141732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7269480" y="164592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86800" y="1645920"/>
            <a:ext cx="141732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8686800" y="164592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0104120" y="1645920"/>
            <a:ext cx="1417320" cy="585216"/>
          </a:xfrm>
          <a:prstGeom prst="rect">
            <a:avLst/>
          </a:prstGeom>
          <a:solidFill>
            <a:srgbClr val="0F6B63"/>
          </a:solidFill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0104120" y="1645920"/>
            <a:ext cx="1417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2231136"/>
            <a:ext cx="23774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40080" y="2231136"/>
            <a:ext cx="2377440" cy="585216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Classroom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017520" y="2231136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3017520" y="22311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34840" y="2231136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4434840" y="22311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52160" y="2231136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5852160" y="22311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69480" y="2231136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7269480" y="22311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686800" y="2231136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686800" y="22311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0104120" y="2231136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10104120" y="223113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" y="2816352"/>
            <a:ext cx="237744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640080" y="2816352"/>
            <a:ext cx="2377440" cy="585216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3017520" y="2816352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3017520" y="28163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434840" y="2816352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4434840" y="28163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852160" y="2816352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5852160" y="28163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7269480" y="2816352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1" name="Text 39"/>
          <p:cNvSpPr/>
          <p:nvPr/>
        </p:nvSpPr>
        <p:spPr>
          <a:xfrm>
            <a:off x="7269480" y="28163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0" y="2816352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3" name="Text 41"/>
          <p:cNvSpPr/>
          <p:nvPr/>
        </p:nvSpPr>
        <p:spPr>
          <a:xfrm>
            <a:off x="8686800" y="28163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10104120" y="2816352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5" name="Text 43"/>
          <p:cNvSpPr/>
          <p:nvPr/>
        </p:nvSpPr>
        <p:spPr>
          <a:xfrm>
            <a:off x="10104120" y="2816352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640080" y="3401568"/>
            <a:ext cx="23774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7" name="Text 45"/>
          <p:cNvSpPr/>
          <p:nvPr/>
        </p:nvSpPr>
        <p:spPr>
          <a:xfrm>
            <a:off x="640080" y="3401568"/>
            <a:ext cx="2377440" cy="585216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Coursera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3017520" y="3401568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9" name="Text 47"/>
          <p:cNvSpPr/>
          <p:nvPr/>
        </p:nvSpPr>
        <p:spPr>
          <a:xfrm>
            <a:off x="3017520" y="34015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434840" y="3401568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1" name="Text 49"/>
          <p:cNvSpPr/>
          <p:nvPr/>
        </p:nvSpPr>
        <p:spPr>
          <a:xfrm>
            <a:off x="4434840" y="34015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852160" y="3401568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3" name="Text 51"/>
          <p:cNvSpPr/>
          <p:nvPr/>
        </p:nvSpPr>
        <p:spPr>
          <a:xfrm>
            <a:off x="5852160" y="34015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7269480" y="3401568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5" name="Text 53"/>
          <p:cNvSpPr/>
          <p:nvPr/>
        </p:nvSpPr>
        <p:spPr>
          <a:xfrm>
            <a:off x="7269480" y="34015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98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8686800" y="3401568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7" name="Text 55"/>
          <p:cNvSpPr/>
          <p:nvPr/>
        </p:nvSpPr>
        <p:spPr>
          <a:xfrm>
            <a:off x="8686800" y="34015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0104120" y="3401568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9" name="Text 57"/>
          <p:cNvSpPr/>
          <p:nvPr/>
        </p:nvSpPr>
        <p:spPr>
          <a:xfrm>
            <a:off x="10104120" y="3401568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640080" y="3986784"/>
            <a:ext cx="237744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1" name="Text 59"/>
          <p:cNvSpPr/>
          <p:nvPr/>
        </p:nvSpPr>
        <p:spPr>
          <a:xfrm>
            <a:off x="640080" y="3986784"/>
            <a:ext cx="2377440" cy="585216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450" dirty="0"/>
          </a:p>
        </p:txBody>
      </p:sp>
      <p:sp>
        <p:nvSpPr>
          <p:cNvPr id="62" name="Shape 60"/>
          <p:cNvSpPr/>
          <p:nvPr/>
        </p:nvSpPr>
        <p:spPr>
          <a:xfrm>
            <a:off x="3017520" y="3986784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3" name="Text 61"/>
          <p:cNvSpPr/>
          <p:nvPr/>
        </p:nvSpPr>
        <p:spPr>
          <a:xfrm>
            <a:off x="3017520" y="3986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4" name="Shape 62"/>
          <p:cNvSpPr/>
          <p:nvPr/>
        </p:nvSpPr>
        <p:spPr>
          <a:xfrm>
            <a:off x="4434840" y="3986784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5" name="Text 63"/>
          <p:cNvSpPr/>
          <p:nvPr/>
        </p:nvSpPr>
        <p:spPr>
          <a:xfrm>
            <a:off x="4434840" y="3986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5852160" y="3986784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7" name="Text 65"/>
          <p:cNvSpPr/>
          <p:nvPr/>
        </p:nvSpPr>
        <p:spPr>
          <a:xfrm>
            <a:off x="5852160" y="3986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7269480" y="3986784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9" name="Text 67"/>
          <p:cNvSpPr/>
          <p:nvPr/>
        </p:nvSpPr>
        <p:spPr>
          <a:xfrm>
            <a:off x="7269480" y="3986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98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8686800" y="3986784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1" name="Text 69"/>
          <p:cNvSpPr/>
          <p:nvPr/>
        </p:nvSpPr>
        <p:spPr>
          <a:xfrm>
            <a:off x="8686800" y="3986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0104120" y="3986784"/>
            <a:ext cx="1417320" cy="585216"/>
          </a:xfrm>
          <a:prstGeom prst="rect">
            <a:avLst/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3" name="Text 71"/>
          <p:cNvSpPr/>
          <p:nvPr/>
        </p:nvSpPr>
        <p:spPr>
          <a:xfrm>
            <a:off x="10104120" y="398678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640080" y="4572000"/>
            <a:ext cx="237744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5" name="Text 73"/>
          <p:cNvSpPr/>
          <p:nvPr/>
        </p:nvSpPr>
        <p:spPr>
          <a:xfrm>
            <a:off x="640080" y="4572000"/>
            <a:ext cx="2377440" cy="585216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450" dirty="0"/>
          </a:p>
        </p:txBody>
      </p:sp>
      <p:sp>
        <p:nvSpPr>
          <p:cNvPr id="76" name="Shape 74"/>
          <p:cNvSpPr/>
          <p:nvPr/>
        </p:nvSpPr>
        <p:spPr>
          <a:xfrm>
            <a:off x="3017520" y="4572000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7" name="Text 75"/>
          <p:cNvSpPr/>
          <p:nvPr/>
        </p:nvSpPr>
        <p:spPr>
          <a:xfrm>
            <a:off x="3017520" y="45720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78" name="Shape 76"/>
          <p:cNvSpPr/>
          <p:nvPr/>
        </p:nvSpPr>
        <p:spPr>
          <a:xfrm>
            <a:off x="4434840" y="4572000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9" name="Text 77"/>
          <p:cNvSpPr/>
          <p:nvPr/>
        </p:nvSpPr>
        <p:spPr>
          <a:xfrm>
            <a:off x="4434840" y="45720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5852160" y="4572000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1" name="Text 79"/>
          <p:cNvSpPr/>
          <p:nvPr/>
        </p:nvSpPr>
        <p:spPr>
          <a:xfrm>
            <a:off x="5852160" y="45720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7269480" y="4572000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3" name="Text 81"/>
          <p:cNvSpPr/>
          <p:nvPr/>
        </p:nvSpPr>
        <p:spPr>
          <a:xfrm>
            <a:off x="7269480" y="45720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8686800" y="4572000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5" name="Text 83"/>
          <p:cNvSpPr/>
          <p:nvPr/>
        </p:nvSpPr>
        <p:spPr>
          <a:xfrm>
            <a:off x="8686800" y="45720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10104120" y="4572000"/>
            <a:ext cx="141732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7" name="Text 85"/>
          <p:cNvSpPr/>
          <p:nvPr/>
        </p:nvSpPr>
        <p:spPr>
          <a:xfrm>
            <a:off x="10104120" y="4572000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EB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640080" y="5157216"/>
            <a:ext cx="2377440" cy="585216"/>
          </a:xfrm>
          <a:prstGeom prst="rect">
            <a:avLst/>
          </a:prstGeom>
          <a:solidFill>
            <a:srgbClr val="14B8A6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9" name="Text 87"/>
          <p:cNvSpPr/>
          <p:nvPr/>
        </p:nvSpPr>
        <p:spPr>
          <a:xfrm>
            <a:off x="640080" y="5157216"/>
            <a:ext cx="2377440" cy="585216"/>
          </a:xfrm>
          <a:prstGeom prst="rect">
            <a:avLst/>
          </a:prstGeom>
          <a:noFill/>
          <a:ln/>
        </p:spPr>
        <p:txBody>
          <a:bodyPr wrap="square" lIns="137160" tIns="137160" rIns="137160" bIns="13716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450" dirty="0"/>
          </a:p>
        </p:txBody>
      </p:sp>
      <p:sp>
        <p:nvSpPr>
          <p:cNvPr id="90" name="Shape 88"/>
          <p:cNvSpPr/>
          <p:nvPr/>
        </p:nvSpPr>
        <p:spPr>
          <a:xfrm>
            <a:off x="3017520" y="5157216"/>
            <a:ext cx="1417320" cy="585216"/>
          </a:xfrm>
          <a:prstGeom prst="rect">
            <a:avLst/>
          </a:prstGeom>
          <a:solidFill>
            <a:srgbClr val="E3F5F1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1" name="Text 89"/>
          <p:cNvSpPr/>
          <p:nvPr/>
        </p:nvSpPr>
        <p:spPr>
          <a:xfrm>
            <a:off x="3017520" y="51572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2" name="Shape 90"/>
          <p:cNvSpPr/>
          <p:nvPr/>
        </p:nvSpPr>
        <p:spPr>
          <a:xfrm>
            <a:off x="4434840" y="5157216"/>
            <a:ext cx="1417320" cy="585216"/>
          </a:xfrm>
          <a:prstGeom prst="rect">
            <a:avLst/>
          </a:prstGeom>
          <a:solidFill>
            <a:srgbClr val="E3F5F1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3" name="Text 91"/>
          <p:cNvSpPr/>
          <p:nvPr/>
        </p:nvSpPr>
        <p:spPr>
          <a:xfrm>
            <a:off x="4434840" y="51572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4" name="Shape 92"/>
          <p:cNvSpPr/>
          <p:nvPr/>
        </p:nvSpPr>
        <p:spPr>
          <a:xfrm>
            <a:off x="5852160" y="5157216"/>
            <a:ext cx="1417320" cy="585216"/>
          </a:xfrm>
          <a:prstGeom prst="rect">
            <a:avLst/>
          </a:prstGeom>
          <a:solidFill>
            <a:srgbClr val="E3F5F1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5" name="Text 93"/>
          <p:cNvSpPr/>
          <p:nvPr/>
        </p:nvSpPr>
        <p:spPr>
          <a:xfrm>
            <a:off x="5852160" y="51572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6" name="Shape 94"/>
          <p:cNvSpPr/>
          <p:nvPr/>
        </p:nvSpPr>
        <p:spPr>
          <a:xfrm>
            <a:off x="7269480" y="5157216"/>
            <a:ext cx="1417320" cy="585216"/>
          </a:xfrm>
          <a:prstGeom prst="rect">
            <a:avLst/>
          </a:prstGeom>
          <a:solidFill>
            <a:srgbClr val="E3F5F1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7" name="Text 95"/>
          <p:cNvSpPr/>
          <p:nvPr/>
        </p:nvSpPr>
        <p:spPr>
          <a:xfrm>
            <a:off x="7269480" y="51572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8" name="Shape 96"/>
          <p:cNvSpPr/>
          <p:nvPr/>
        </p:nvSpPr>
        <p:spPr>
          <a:xfrm>
            <a:off x="8686800" y="5157216"/>
            <a:ext cx="1417320" cy="585216"/>
          </a:xfrm>
          <a:prstGeom prst="rect">
            <a:avLst/>
          </a:prstGeom>
          <a:solidFill>
            <a:srgbClr val="E3F5F1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9" name="Text 97"/>
          <p:cNvSpPr/>
          <p:nvPr/>
        </p:nvSpPr>
        <p:spPr>
          <a:xfrm>
            <a:off x="8686800" y="51572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10104120" y="5157216"/>
            <a:ext cx="1417320" cy="585216"/>
          </a:xfrm>
          <a:prstGeom prst="rect">
            <a:avLst/>
          </a:prstGeom>
          <a:solidFill>
            <a:srgbClr val="E3F5F1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1" name="Text 99"/>
          <p:cNvSpPr/>
          <p:nvPr/>
        </p:nvSpPr>
        <p:spPr>
          <a:xfrm>
            <a:off x="10104120" y="5157216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2" name="Text 100"/>
          <p:cNvSpPr/>
          <p:nvPr/>
        </p:nvSpPr>
        <p:spPr>
          <a:xfrm>
            <a:off x="640080" y="597103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 is the only platform in this comparison that checks every single box.</a:t>
            </a:r>
            <a:endParaRPr lang="en-US" sz="1500" dirty="0"/>
          </a:p>
        </p:txBody>
      </p:sp>
      <p:sp>
        <p:nvSpPr>
          <p:cNvPr id="103" name="Text 10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</a:t>
            </a:r>
            <a:r>
              <a:rPr lang="en-US" sz="3400" b="1" dirty="0" err="1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ConceptIntel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96112" y="2185416"/>
            <a:ext cx="658368" cy="658368"/>
          </a:xfrm>
          <a:prstGeom prst="ellipse">
            <a:avLst/>
          </a:prstGeom>
          <a:solidFill>
            <a:srgbClr val="D3EEE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382926"/>
            <a:ext cx="329184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Academic Intelligence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83080" y="2432304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students and teachers, built around concepts — not just courses.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401568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896112" y="3758184"/>
            <a:ext cx="658368" cy="658368"/>
          </a:xfrm>
          <a:prstGeom prst="ellipse">
            <a:avLst/>
          </a:prstGeom>
          <a:solidFill>
            <a:srgbClr val="D3EEE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955694"/>
            <a:ext cx="329184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661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Knowledge-Graph-Driven Learning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783080" y="4005072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 becomes an interconnected map of concepts and prerequisites.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4974336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896112" y="5330952"/>
            <a:ext cx="658368" cy="658368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49554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13892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783080" y="5577840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extraction is grounded directly in each course's own uploaded material — not guesswork.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</a:t>
            </a:r>
            <a:r>
              <a:rPr lang="en-US" sz="3400" b="1" dirty="0" err="1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ConceptIntel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96112" y="2185416"/>
            <a:ext cx="658368" cy="658368"/>
          </a:xfrm>
          <a:prstGeom prst="ellipse">
            <a:avLst/>
          </a:prstGeom>
          <a:solidFill>
            <a:srgbClr val="D3EEE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368296"/>
            <a:ext cx="329184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Engine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83080" y="2432304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paths that reinforce exactly the concepts each student is weak 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3401568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896112" y="3758184"/>
            <a:ext cx="658368" cy="658368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92277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56616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Teacher-in-the-Loop</a:t>
            </a:r>
            <a:endParaRPr lang="en-US" sz="2100" dirty="0"/>
          </a:p>
        </p:txBody>
      </p:sp>
      <p:sp>
        <p:nvSpPr>
          <p:cNvPr id="13" name="Text 9"/>
          <p:cNvSpPr/>
          <p:nvPr/>
        </p:nvSpPr>
        <p:spPr>
          <a:xfrm>
            <a:off x="1783080" y="4005072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concept and knowledge graph is reviewed and approved before students see it.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4974336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896112" y="5330952"/>
            <a:ext cx="658368" cy="658368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704" y="5528462"/>
            <a:ext cx="329184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13892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Intelligence</a:t>
            </a:r>
            <a:endParaRPr lang="en-US" sz="2100" dirty="0"/>
          </a:p>
        </p:txBody>
      </p:sp>
      <p:sp>
        <p:nvSpPr>
          <p:cNvPr id="18" name="Text 13"/>
          <p:cNvSpPr/>
          <p:nvPr/>
        </p:nvSpPr>
        <p:spPr>
          <a:xfrm>
            <a:off x="1783080" y="5577840"/>
            <a:ext cx="9464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are shared and reused across every instructor teaching the same course.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54352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60120" y="1792224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web-based AI platform supporting both students and teachers.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105912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60120" y="2843784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key concepts from course materials into a knowledge graph.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157472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960120" y="3895344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concept-level mastery for every student, continuously.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5209032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960120" y="4946904"/>
            <a:ext cx="10561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adaptive learning materials — with explainable feedback.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C010626-89A6-57FA-E911-88AC5FB9233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08"/>
          <a:stretch>
            <a:fillRect/>
          </a:stretch>
        </p:blipFill>
        <p:spPr bwMode="auto">
          <a:xfrm>
            <a:off x="1013213" y="953590"/>
            <a:ext cx="9782542" cy="495081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real subjects, chosen to prove prerequisite-based concept relationships actually work end to end: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914400" y="2606040"/>
            <a:ext cx="530352" cy="53035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31" y="2738628"/>
            <a:ext cx="256889" cy="265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200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Physics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639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prerequisite subject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62272" y="2377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4690872" y="2606040"/>
            <a:ext cx="530352" cy="53035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765146"/>
            <a:ext cx="265176" cy="21214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90872" y="3200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90872" y="3639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directly on Applied Physics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38744" y="237744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2"/>
          <p:cNvSpPr/>
          <p:nvPr/>
        </p:nvSpPr>
        <p:spPr>
          <a:xfrm>
            <a:off x="8467344" y="2606040"/>
            <a:ext cx="530352" cy="53035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932" y="2738628"/>
            <a:ext cx="265176" cy="2651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67344" y="3200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&amp; Analytical Geometry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67344" y="36393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third pilot subject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85800" y="453237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6"/>
          <p:cNvSpPr/>
          <p:nvPr/>
        </p:nvSpPr>
        <p:spPr>
          <a:xfrm>
            <a:off x="1005840" y="4306824"/>
            <a:ext cx="10287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upload slides, PDFs, textbooks, CLOs, PLOs, and HEC outlines.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685800" y="503529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18"/>
          <p:cNvSpPr/>
          <p:nvPr/>
        </p:nvSpPr>
        <p:spPr>
          <a:xfrm>
            <a:off x="1005840" y="4809744"/>
            <a:ext cx="10287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7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are shared across every teacher on the same course — and reused by future instructors.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0392" y="253288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Uploads Material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218688" y="25146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520440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3703320" y="187452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703320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85032" y="253288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Processing (RAG)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053328" y="25146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355080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6537960" y="187452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537960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19672" y="253288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Built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887968" y="251460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9372600" y="187452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9372600" y="18745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54312" y="253288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Approval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685800" y="39319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868680" y="411480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868680" y="4114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392" y="477316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Generated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218688" y="47548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520440" y="39319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Shape 27"/>
          <p:cNvSpPr/>
          <p:nvPr/>
        </p:nvSpPr>
        <p:spPr>
          <a:xfrm>
            <a:off x="3703320" y="411480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3703320" y="4114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685032" y="477316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Learns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6053328" y="47548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6355080" y="39319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6537960" y="411480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6537960" y="4114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519672" y="477316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Feedback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887968" y="475488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189720" y="3931920"/>
            <a:ext cx="2514600" cy="1965960"/>
          </a:xfrm>
          <a:prstGeom prst="roundRect">
            <a:avLst>
              <a:gd name="adj" fmla="val 4651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9" name="Shape 37"/>
          <p:cNvSpPr/>
          <p:nvPr/>
        </p:nvSpPr>
        <p:spPr>
          <a:xfrm>
            <a:off x="9372600" y="4114800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9372600" y="4114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354312" y="4773168"/>
            <a:ext cx="21854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Live Today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135124" y="205740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572" y="2243938"/>
            <a:ext cx="310896" cy="2487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Builder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10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5838444" y="205740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754" y="2212848"/>
            <a:ext cx="233172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834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 + RAG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410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9541764" y="205740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7212" y="2243938"/>
            <a:ext cx="310896" cy="2487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34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Concept Extraction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410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2135124" y="429768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572" y="445312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5-Tier Role-Based Access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68680" y="5650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5838444" y="429768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892" y="445312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Approval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650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3"/>
          <p:cNvSpPr/>
          <p:nvPr/>
        </p:nvSpPr>
        <p:spPr>
          <a:xfrm>
            <a:off x="9541764" y="429768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7212" y="4453128"/>
            <a:ext cx="310896" cy="31089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Chat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5650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CAPABILITIES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 — Live &amp; Upcoming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135124" y="205740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0572" y="2230120"/>
            <a:ext cx="310896" cy="276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Stream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410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5838444" y="205740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892" y="22128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834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410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9541764" y="2057400"/>
            <a:ext cx="621792" cy="621792"/>
          </a:xfrm>
          <a:prstGeom prst="ellipse">
            <a:avLst/>
          </a:prstGeom>
          <a:solidFill>
            <a:srgbClr val="165F58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6643" y="2212848"/>
            <a:ext cx="272034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3464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341071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8FE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1520" y="4069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2135124" y="4297680"/>
            <a:ext cx="621792" cy="621792"/>
          </a:xfrm>
          <a:prstGeom prst="ellipse">
            <a:avLst/>
          </a:prstGeom>
          <a:solidFill>
            <a:srgbClr val="D3EEE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0572" y="4470400"/>
            <a:ext cx="310896" cy="2763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Engine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68680" y="5650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434840" y="4069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5838444" y="4297680"/>
            <a:ext cx="621792" cy="621792"/>
          </a:xfrm>
          <a:prstGeom prst="ellipse">
            <a:avLst/>
          </a:prstGeom>
          <a:solidFill>
            <a:srgbClr val="D3EEE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3892" y="4453128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5650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Shape 23"/>
          <p:cNvSpPr/>
          <p:nvPr/>
        </p:nvSpPr>
        <p:spPr>
          <a:xfrm>
            <a:off x="9541764" y="4297680"/>
            <a:ext cx="621792" cy="621792"/>
          </a:xfrm>
          <a:prstGeom prst="ellipse">
            <a:avLst/>
          </a:prstGeom>
          <a:solidFill>
            <a:srgbClr val="D3EEE9"/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97212" y="4484218"/>
            <a:ext cx="310896" cy="24871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507492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565099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7.1 – 7.6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828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Sign-up, login, role-based access for 5 roles.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0" y="19293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058400" y="1929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261518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61518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Create/edit/delete courses with scheduling &amp; status.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0" y="2715768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10058400" y="27157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31012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34015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40156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codes, join links, prerequisite checks.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0" y="350215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0058400" y="3502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09651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22960" y="409651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00200" y="4187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418795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RAG pipeline extracts concepts &amp; objectives.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0" y="4288536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10058400" y="42885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" y="488289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7.5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600200" y="49743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43400" y="49743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edit, and share concept dependencies.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0" y="50749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10058400" y="5074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22960" y="5669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600200" y="5760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343400" y="57607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quizzes and study guides from concepts.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058400" y="586130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1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10058400" y="5861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7.7 – 7.12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Supervision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43400" y="18288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AI-generated content.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0" y="192938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058400" y="192938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52374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2523744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600200" y="261518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Evaluation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43400" y="261518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grading with explainable feedback.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0" y="2715768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BF0DD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10058400" y="27157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B98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822960" y="3310128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340156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43400" y="340156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Personalizes each student's learning path.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058400" y="3502152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1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10058400" y="3502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" y="409651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22960" y="4096512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7.10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600200" y="41879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343400" y="418795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Concept-mastery heatmaps for teachers.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0" y="4288536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1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7" name="Text 25"/>
          <p:cNvSpPr/>
          <p:nvPr/>
        </p:nvSpPr>
        <p:spPr>
          <a:xfrm>
            <a:off x="10058400" y="428853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" y="4882896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822960" y="4882896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7.11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600200" y="497433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343400" y="497433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Mini-games tied to concept mastery.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8400" y="507492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F1F2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10058400" y="50749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566928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EAF5F3"/>
          </a:solidFill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822960" y="5669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7.12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1600200" y="57607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Module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343400" y="576072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for content and feedback.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058400" y="5861304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E6F6E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10058400" y="5861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0F9D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28800" y="1645920"/>
            <a:ext cx="8503920" cy="694944"/>
          </a:xfrm>
          <a:prstGeom prst="roundRect">
            <a:avLst>
              <a:gd name="adj" fmla="val 11842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1993392" y="176479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1901952"/>
            <a:ext cx="22860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06040" y="17190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606040" y="20299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Teachers · Coordinators · Admins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2345436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75104" y="2468880"/>
            <a:ext cx="8211312" cy="694944"/>
          </a:xfrm>
          <a:prstGeom prst="roundRect">
            <a:avLst>
              <a:gd name="adj" fmla="val 11842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Shape 8"/>
          <p:cNvSpPr/>
          <p:nvPr/>
        </p:nvSpPr>
        <p:spPr>
          <a:xfrm>
            <a:off x="2139696" y="258775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996" y="270205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52344" y="25420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752344" y="2852928"/>
            <a:ext cx="7296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TypeScript · React Flow · Tailwind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43600" y="3168396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121408" y="3291840"/>
            <a:ext cx="7918704" cy="694944"/>
          </a:xfrm>
          <a:prstGeom prst="roundRect">
            <a:avLst>
              <a:gd name="adj" fmla="val 11842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3"/>
          <p:cNvSpPr/>
          <p:nvPr/>
        </p:nvSpPr>
        <p:spPr>
          <a:xfrm>
            <a:off x="2286000" y="341071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300" y="3525012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98648" y="33649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898648" y="3675888"/>
            <a:ext cx="7004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JWT/OAuth · Role-Based Access Control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943600" y="3991356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2267712" y="4114800"/>
            <a:ext cx="7626096" cy="694944"/>
          </a:xfrm>
          <a:prstGeom prst="roundRect">
            <a:avLst>
              <a:gd name="adj" fmla="val 11842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Shape 18"/>
          <p:cNvSpPr/>
          <p:nvPr/>
        </p:nvSpPr>
        <p:spPr>
          <a:xfrm>
            <a:off x="2432304" y="423367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604" y="4370832"/>
            <a:ext cx="228600" cy="1828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044952" y="4187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RAG Layer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3044952" y="4498848"/>
            <a:ext cx="6711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· fastembed · OCR · Langfuse Tracing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943600" y="4814316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2414016" y="4937760"/>
            <a:ext cx="7333488" cy="694944"/>
          </a:xfrm>
          <a:prstGeom prst="roundRect">
            <a:avLst>
              <a:gd name="adj" fmla="val 11842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9" name="Shape 23"/>
          <p:cNvSpPr/>
          <p:nvPr/>
        </p:nvSpPr>
        <p:spPr>
          <a:xfrm>
            <a:off x="2578608" y="505663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7196" y="5170932"/>
            <a:ext cx="200025" cy="2286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191256" y="50109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3191256" y="5321808"/>
            <a:ext cx="6419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Knowledge Graph + PostgreSQL Vector Store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5943600" y="5637276"/>
            <a:ext cx="27432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2560320" y="5760720"/>
            <a:ext cx="7040880" cy="694944"/>
          </a:xfrm>
          <a:prstGeom prst="roundRect">
            <a:avLst>
              <a:gd name="adj" fmla="val 11842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Shape 28"/>
          <p:cNvSpPr/>
          <p:nvPr/>
        </p:nvSpPr>
        <p:spPr>
          <a:xfrm>
            <a:off x="2724912" y="5879592"/>
            <a:ext cx="457200" cy="45720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39212" y="6016752"/>
            <a:ext cx="22860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337560" y="58338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Services</a:t>
            </a:r>
            <a:endParaRPr lang="en-US" sz="1600" dirty="0"/>
          </a:p>
        </p:txBody>
      </p:sp>
      <p:sp>
        <p:nvSpPr>
          <p:cNvPr id="38" name="Text 30"/>
          <p:cNvSpPr/>
          <p:nvPr/>
        </p:nvSpPr>
        <p:spPr>
          <a:xfrm>
            <a:off x="3337560" y="6144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3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Supabase Storage · Email · Notifications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640080" y="1628775"/>
            <a:ext cx="11091672" cy="4589145"/>
          </a:xfrm>
          <a:prstGeom prst="roundRect">
            <a:avLst>
              <a:gd name="adj" fmla="val 3509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983514B-4540-09BA-FA52-B874471CF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595486"/>
              </p:ext>
            </p:extLst>
          </p:nvPr>
        </p:nvGraphicFramePr>
        <p:xfrm>
          <a:off x="917576" y="1748790"/>
          <a:ext cx="10512424" cy="421367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866695">
                  <a:extLst>
                    <a:ext uri="{9D8B030D-6E8A-4147-A177-3AD203B41FA5}">
                      <a16:colId xmlns:a16="http://schemas.microsoft.com/office/drawing/2014/main" val="1419538926"/>
                    </a:ext>
                  </a:extLst>
                </a:gridCol>
                <a:gridCol w="6645729">
                  <a:extLst>
                    <a:ext uri="{9D8B030D-6E8A-4147-A177-3AD203B41FA5}">
                      <a16:colId xmlns:a16="http://schemas.microsoft.com/office/drawing/2014/main" val="2308710560"/>
                    </a:ext>
                  </a:extLst>
                </a:gridCol>
              </a:tblGrid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400" b="1" dirty="0">
                          <a:solidFill>
                            <a:schemeClr val="bg1"/>
                          </a:solidFill>
                          <a:effectLst/>
                        </a:rPr>
                        <a:t>Tool / Technology</a:t>
                      </a:r>
                      <a:endParaRPr lang="en-PK" sz="2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400" b="1" dirty="0">
                          <a:solidFill>
                            <a:schemeClr val="bg1"/>
                          </a:solidFill>
                          <a:effectLst/>
                        </a:rPr>
                        <a:t>Keywords / Use</a:t>
                      </a:r>
                      <a:endParaRPr lang="en-PK" sz="2400" b="1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7988499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React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Frontend, UI, responsive, components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3462605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FastAPI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Backend, API, REST, Python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66640500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 dirty="0">
                          <a:solidFill>
                            <a:schemeClr val="bg1"/>
                          </a:solidFill>
                          <a:effectLst/>
                        </a:rPr>
                        <a:t>PostgreSQL / </a:t>
                      </a:r>
                      <a:r>
                        <a:rPr lang="en-PK" sz="2000" dirty="0" err="1">
                          <a:solidFill>
                            <a:schemeClr val="bg1"/>
                          </a:solidFill>
                          <a:effectLst/>
                        </a:rPr>
                        <a:t>Supabase</a:t>
                      </a:r>
                      <a:endParaRPr lang="en-PK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Auth, PostgreSQL, object storage, online ,Relational DB, structured data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0685821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Neo4j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Graph DB, knowledge graph, concepts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98623953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 dirty="0">
                          <a:solidFill>
                            <a:schemeClr val="bg1"/>
                          </a:solidFill>
                          <a:effectLst/>
                        </a:rPr>
                        <a:t>OpenAI Models (</a:t>
                      </a: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</a:rPr>
                        <a:t>Kimi)</a:t>
                      </a:r>
                      <a:endParaRPr lang="en-PK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 dirty="0">
                          <a:solidFill>
                            <a:schemeClr val="bg1"/>
                          </a:solidFill>
                          <a:effectLst/>
                        </a:rPr>
                        <a:t>AI content generation, assignment feedback, adaptive learning</a:t>
                      </a:r>
                      <a:endParaRPr lang="en-PK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4250302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Langfuse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 dirty="0">
                          <a:solidFill>
                            <a:schemeClr val="bg1"/>
                          </a:solidFill>
                          <a:effectLst/>
                        </a:rPr>
                        <a:t>LLM tracing, prompt management, model management</a:t>
                      </a:r>
                      <a:endParaRPr lang="en-PK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82137221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Sentry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Error monitoring, bug tracking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35565597"/>
                  </a:ext>
                </a:extLst>
              </a:tr>
              <a:tr h="20123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>
                          <a:solidFill>
                            <a:schemeClr val="bg1"/>
                          </a:solidFill>
                          <a:effectLst/>
                        </a:rPr>
                        <a:t>Apache Airflow</a:t>
                      </a:r>
                      <a:endParaRPr lang="en-PK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PK" sz="2000" dirty="0">
                          <a:solidFill>
                            <a:schemeClr val="bg1"/>
                          </a:solidFill>
                          <a:effectLst/>
                        </a:rPr>
                        <a:t>Job scheduling, batch tasks, pipelines</a:t>
                      </a:r>
                      <a:endParaRPr lang="en-PK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094397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Demonstration (1 of 2)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C:\Users\mamoo_degcn9g\AppData\Local\Temp\claude\C--Users-mamoo-degcn9g-OneDrive-Documents-FYP-conceptintel\f051ca33-27d2-49d4-b922-df84a1f16853\scratchpad\pitch/screens/land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" y="1837944"/>
            <a:ext cx="3319272" cy="1527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348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1" descr="C:\Users\mamoo_degcn9g\AppData\Local\Temp\claude\C--Users-mamoo-degcn9g-OneDrive-Documents-FYP-conceptintel\f051ca33-27d2-49d4-b922-df84a1f16853\scratchpad\pitch/screens/log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9704" y="1837944"/>
            <a:ext cx="3319272" cy="1527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280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Google Sign-In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3816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1" name="Image 2" descr="C:\Users\mamoo_degcn9g\AppData\Local\Temp\claude\C--Users-mamoo-degcn9g-OneDrive-Documents-FYP-conceptintel\f051ca33-27d2-49d4-b922-df84a1f16853\scratchpad\pitch/screens/student_dashboar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24" y="1837944"/>
            <a:ext cx="3319272" cy="1527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3" descr="C:\Users\mamoo_degcn9g\AppData\Local\Temp\claude\C--Users-mamoo-degcn9g-OneDrive-Documents-FYP-conceptintel\f051ca33-27d2-49d4-b922-df84a1f16853\scratchpad\pitch/screens/student_course_detail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6384" y="4078224"/>
            <a:ext cx="3319272" cy="1527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— Course &amp; Knowledge Graph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43484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4" descr="C:\Users\mamoo_degcn9g\AppData\Local\Temp\claude\C--Users-mamoo-degcn9g-OneDrive-Documents-FYP-conceptintel\f051ca33-27d2-49d4-b922-df84a1f16853\scratchpad\pitch/screens/teacher_portal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89704" y="4078224"/>
            <a:ext cx="3319272" cy="1527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26280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Portal Dashboard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813816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5" descr="C:\Users\mamoo_degcn9g\AppData\Local\Temp\claude\C--Users-mamoo-degcn9g-OneDrive-Documents-FYP-conceptintel\f051ca33-27d2-49d4-b922-df84a1f16853\scratchpad\pitch/screens/knowledge_graph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93024" y="4078224"/>
            <a:ext cx="3319272" cy="1527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0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Editor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731520" y="6080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screenshots from the running prototype — every screen shown is real.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Demonstration (2 of 2)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5" name="Image 0" descr="C:\Users\mamoo_degcn9g\AppData\Local\Temp\claude\C--Users-mamoo-degcn9g-OneDrive-Documents-FYP-conceptintel\f051ca33-27d2-49d4-b922-df84a1f16853\scratchpad\pitch/screens/admin_conso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6384" y="1837944"/>
            <a:ext cx="3319272" cy="1527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— All Users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3484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8" name="Image 1" descr="C:\Users\mamoo_degcn9g\AppData\Local\Temp\claude\C--Users-mamoo-degcn9g-OneDrive-Documents-FYP-conceptintel\f051ca33-27d2-49d4-b922-df84a1f16853\scratchpad\pitch/screens/create_teacher_accou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89704" y="1837944"/>
            <a:ext cx="3319272" cy="1527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26280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Teacher Account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138160" y="178308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1" name="Image 2" descr="C:\Users\mamoo_degcn9g\AppData\Local\Temp\claude\C--Users-mamoo-degcn9g-OneDrive-Documents-FYP-conceptintel\f051ca33-27d2-49d4-b922-df84a1f16853\scratchpad\pitch/screens/activity_log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93024" y="1837944"/>
            <a:ext cx="3319272" cy="152704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336499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Logs (Full Audit Trail)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152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4" name="Image 3" descr="C:\Users\mamoo_degcn9g\AppData\Local\Temp\claude\C--Users-mamoo-degcn9g-OneDrive-Documents-FYP-conceptintel\f051ca33-27d2-49d4-b922-df84a1f16853\scratchpad\pitch/screens/notifications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86384" y="4078224"/>
            <a:ext cx="3319272" cy="152704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Center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443484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17" name="Image 4" descr="C:\Users\mamoo_degcn9g\AppData\Local\Temp\claude\C--Users-mamoo-degcn9g-OneDrive-Documents-FYP-conceptintel\f051ca33-27d2-49d4-b922-df84a1f16853\scratchpad\pitch/screens/ai_assistant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489704" y="4078224"/>
            <a:ext cx="3319272" cy="152704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26280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Chat</a:t>
            </a:r>
            <a:endParaRPr lang="en-US" sz="1250" dirty="0"/>
          </a:p>
        </p:txBody>
      </p:sp>
      <p:sp>
        <p:nvSpPr>
          <p:cNvPr id="19" name="Shape 12"/>
          <p:cNvSpPr/>
          <p:nvPr/>
        </p:nvSpPr>
        <p:spPr>
          <a:xfrm>
            <a:off x="8138160" y="4023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pic>
        <p:nvPicPr>
          <p:cNvPr id="20" name="Image 5" descr="C:\Users\mamoo_degcn9g\AppData\Local\Temp\claude\C--Users-mamoo-degcn9g-OneDrive-Documents-FYP-conceptintel\f051ca33-27d2-49d4-b922-df84a1f16853\scratchpad\pitch/screens/settings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93024" y="4078224"/>
            <a:ext cx="3319272" cy="152704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229600" y="56052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</a:t>
            </a:r>
            <a:endParaRPr lang="en-US" sz="1250" dirty="0"/>
          </a:p>
        </p:txBody>
      </p:sp>
      <p:sp>
        <p:nvSpPr>
          <p:cNvPr id="22" name="Text 14"/>
          <p:cNvSpPr/>
          <p:nvPr/>
        </p:nvSpPr>
        <p:spPr>
          <a:xfrm>
            <a:off x="731520" y="60807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role — Student, Teacher, Admin — has a fully working, distinct experience.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ConceptIntel Is Different 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5125" y="1842547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1024128" y="1602130"/>
            <a:ext cx="10287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Knowledge Graph Fusion — concept extraction is grounded in a real graph database, never a flat AI response.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5125" y="2497679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87552" y="2322171"/>
            <a:ext cx="102184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Curriculum-Aware RAG — every answer is retrieved from the course's own uploaded material.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6092" y="3084826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005840" y="2765220"/>
            <a:ext cx="10287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Teacher-Approved AI — a dedicated Course Coordinator role reviews and approves every knowledge graph.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C562659B-690A-02BD-7FF0-B0D58020A2AB}"/>
              </a:ext>
            </a:extLst>
          </p:cNvPr>
          <p:cNvSpPr/>
          <p:nvPr/>
        </p:nvSpPr>
        <p:spPr>
          <a:xfrm>
            <a:off x="736092" y="3810561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8EDFBF8-AED6-92C7-FD07-D9FC3725BD1A}"/>
              </a:ext>
            </a:extLst>
          </p:cNvPr>
          <p:cNvSpPr/>
          <p:nvPr/>
        </p:nvSpPr>
        <p:spPr>
          <a:xfrm>
            <a:off x="1024128" y="3522214"/>
            <a:ext cx="10287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Institutional Knowledge — graphs are reused across instructors teaching the same course, term after term.</a:t>
            </a:r>
            <a:endParaRPr lang="en-US" sz="2000" dirty="0"/>
          </a:p>
        </p:txBody>
      </p:sp>
      <p:sp>
        <p:nvSpPr>
          <p:cNvPr id="17" name="Shape 4">
            <a:extLst>
              <a:ext uri="{FF2B5EF4-FFF2-40B4-BE49-F238E27FC236}">
                <a16:creationId xmlns:a16="http://schemas.microsoft.com/office/drawing/2014/main" id="{78E67E8B-F7FE-AAC9-37F9-8D66189D6AB4}"/>
              </a:ext>
            </a:extLst>
          </p:cNvPr>
          <p:cNvSpPr/>
          <p:nvPr/>
        </p:nvSpPr>
        <p:spPr>
          <a:xfrm>
            <a:off x="736092" y="4522114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8441C90A-F726-040A-6EA5-66B5105750C1}"/>
              </a:ext>
            </a:extLst>
          </p:cNvPr>
          <p:cNvSpPr/>
          <p:nvPr/>
        </p:nvSpPr>
        <p:spPr>
          <a:xfrm>
            <a:off x="1024128" y="4314601"/>
            <a:ext cx="10287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Academic Governance — five distinct roles mirror how real universities actually run.</a:t>
            </a:r>
            <a:endParaRPr lang="en-US" sz="20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DEEEB603-09EC-4868-EDE3-5AB12665DB29}"/>
              </a:ext>
            </a:extLst>
          </p:cNvPr>
          <p:cNvSpPr/>
          <p:nvPr/>
        </p:nvSpPr>
        <p:spPr>
          <a:xfrm>
            <a:off x="786384" y="7044178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B31C9350-9C9A-1857-B404-7BC1F4545593}"/>
              </a:ext>
            </a:extLst>
          </p:cNvPr>
          <p:cNvSpPr/>
          <p:nvPr/>
        </p:nvSpPr>
        <p:spPr>
          <a:xfrm>
            <a:off x="1024128" y="4809061"/>
            <a:ext cx="10287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DF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Concept-Level Analytics — insight into exactly which prerequisite concepts a cohort is weak on, not just grades.</a:t>
            </a:r>
            <a:endParaRPr lang="en-US" sz="20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4C844B15-E883-DFD8-F9B8-931D67FBF680}"/>
              </a:ext>
            </a:extLst>
          </p:cNvPr>
          <p:cNvSpPr/>
          <p:nvPr/>
        </p:nvSpPr>
        <p:spPr>
          <a:xfrm>
            <a:off x="719515" y="5117157"/>
            <a:ext cx="100584" cy="100584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CONSTRAINTS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Limitations &amp; Constraints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" cy="1965960"/>
          </a:xfrm>
          <a:prstGeom prst="rect">
            <a:avLst/>
          </a:prstGeom>
          <a:solidFill>
            <a:srgbClr val="C2571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Isn't Perfect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concept extraction can require teacher adjustment.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73152" cy="1965960"/>
          </a:xfrm>
          <a:prstGeom prst="rect">
            <a:avLst/>
          </a:prstGeom>
          <a:solidFill>
            <a:srgbClr val="C2571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62940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Prototype-Focused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060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3 pilot subjects, not full-scale deployment yet.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73152" cy="1965960"/>
          </a:xfrm>
          <a:prstGeom prst="rect">
            <a:avLst/>
          </a:prstGeom>
          <a:solidFill>
            <a:srgbClr val="C2571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00584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 Scale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800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adaptation for many concurrent students needs more compute.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63640" y="4023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263640" y="4023360"/>
            <a:ext cx="73152" cy="1965960"/>
          </a:xfrm>
          <a:prstGeom prst="rect">
            <a:avLst/>
          </a:prstGeom>
          <a:solidFill>
            <a:srgbClr val="C2571F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629400" y="42976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Material Quality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8006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quality depends on the uploaded materials themselves.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Gathering Approach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73152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1005840" y="2084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Materials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005840" y="2542032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textbooks, and course outlines are processed with AI to extract concepts.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73152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629400" y="20848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Interaction Data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29400" y="2542032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responses and learning progress are tracked over time.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73152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1005840" y="40965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Guidance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005840" y="4553712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supervisors shape system design decisions continuously.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349240" cy="1783080"/>
          </a:xfrm>
          <a:prstGeom prst="roundRect">
            <a:avLst>
              <a:gd name="adj" fmla="val 5128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263640" y="3840480"/>
            <a:ext cx="73152" cy="17830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629400" y="40965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Analysis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553712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A9CB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existing digital learning platforms informs every workflow.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87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INVOLVED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Stakeholders &amp; Roles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868680" y="1929384"/>
            <a:ext cx="438912" cy="438912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373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Sponsor: Air University, Islamabad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Shape 6"/>
          <p:cNvSpPr/>
          <p:nvPr/>
        </p:nvSpPr>
        <p:spPr>
          <a:xfrm>
            <a:off x="640080" y="2880360"/>
            <a:ext cx="2048256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04672" y="411480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adaptive learning paths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825496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Shape 10"/>
          <p:cNvSpPr/>
          <p:nvPr/>
        </p:nvSpPr>
        <p:spPr>
          <a:xfrm>
            <a:off x="2825496" y="2880360"/>
            <a:ext cx="2048256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1"/>
          <p:cNvSpPr/>
          <p:nvPr/>
        </p:nvSpPr>
        <p:spPr>
          <a:xfrm>
            <a:off x="2962656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990088" y="411480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creators and KG supervisors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10912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7" name="Shape 14"/>
          <p:cNvSpPr/>
          <p:nvPr/>
        </p:nvSpPr>
        <p:spPr>
          <a:xfrm>
            <a:off x="5010912" y="2880360"/>
            <a:ext cx="2048256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8" name="Text 15"/>
          <p:cNvSpPr/>
          <p:nvPr/>
        </p:nvSpPr>
        <p:spPr>
          <a:xfrm>
            <a:off x="5148072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175504" y="411480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oversight and approval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96328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1" name="Shape 18"/>
          <p:cNvSpPr/>
          <p:nvPr/>
        </p:nvSpPr>
        <p:spPr>
          <a:xfrm>
            <a:off x="7196328" y="2880360"/>
            <a:ext cx="2048256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19"/>
          <p:cNvSpPr/>
          <p:nvPr/>
        </p:nvSpPr>
        <p:spPr>
          <a:xfrm>
            <a:off x="7333488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360920" y="411480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Farid — guidance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381744" y="2880360"/>
            <a:ext cx="2048256" cy="3108960"/>
          </a:xfrm>
          <a:prstGeom prst="roundRect">
            <a:avLst>
              <a:gd name="adj" fmla="val 4464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5" name="Shape 22"/>
          <p:cNvSpPr/>
          <p:nvPr/>
        </p:nvSpPr>
        <p:spPr>
          <a:xfrm>
            <a:off x="9381744" y="2880360"/>
            <a:ext cx="2048256" cy="64008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3"/>
          <p:cNvSpPr/>
          <p:nvPr/>
        </p:nvSpPr>
        <p:spPr>
          <a:xfrm>
            <a:off x="9518904" y="3246120"/>
            <a:ext cx="177393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 Committee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9546336" y="411480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assessment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Gantt Chart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93192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365760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19684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92252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6176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618744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2668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745236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9160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71728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25652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998220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521440" y="1737360"/>
            <a:ext cx="0" cy="3840480"/>
          </a:xfrm>
          <a:prstGeom prst="line">
            <a:avLst/>
          </a:prstGeom>
          <a:noFill/>
          <a:ln w="9525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11247120" y="1463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1828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System Design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19019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0F9D6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5720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Course Management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5200" y="23591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0F9D6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57200" y="2743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+ Coordinator Roles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18480" y="2816352"/>
            <a:ext cx="843280" cy="310896"/>
          </a:xfrm>
          <a:prstGeom prst="roundRect">
            <a:avLst>
              <a:gd name="adj" fmla="val 14706"/>
            </a:avLst>
          </a:prstGeom>
          <a:solidFill>
            <a:srgbClr val="0F9D6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5720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Upload + RAG Pipeline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61760" y="32735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0F9D6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45720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Refinement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305040" y="37307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B981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+ Adaptive Engine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48320" y="4187952"/>
            <a:ext cx="168656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Evaluation + Analytics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413240" y="46451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457200" y="50292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Testing, Deployment &amp; Pilot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256520" y="5102352"/>
            <a:ext cx="1264920" cy="310896"/>
          </a:xfrm>
          <a:prstGeom prst="roundRect">
            <a:avLst>
              <a:gd name="adj" fmla="val 14706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4" name="Shape 32"/>
          <p:cNvSpPr/>
          <p:nvPr/>
        </p:nvSpPr>
        <p:spPr>
          <a:xfrm>
            <a:off x="3931920" y="5806440"/>
            <a:ext cx="228600" cy="182880"/>
          </a:xfrm>
          <a:prstGeom prst="rect">
            <a:avLst/>
          </a:prstGeom>
          <a:solidFill>
            <a:srgbClr val="0F9D68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5" name="Text 33"/>
          <p:cNvSpPr/>
          <p:nvPr/>
        </p:nvSpPr>
        <p:spPr>
          <a:xfrm>
            <a:off x="4224528" y="5751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577840" y="5806440"/>
            <a:ext cx="228600" cy="182880"/>
          </a:xfrm>
          <a:prstGeom prst="rect">
            <a:avLst/>
          </a:prstGeom>
          <a:solidFill>
            <a:srgbClr val="B9812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5870448" y="5751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223760" y="5806440"/>
            <a:ext cx="228600" cy="1828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9" name="Text 37"/>
          <p:cNvSpPr/>
          <p:nvPr/>
        </p:nvSpPr>
        <p:spPr>
          <a:xfrm>
            <a:off x="7516368" y="5751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Scalability &amp; 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1623060" y="1828800"/>
            <a:ext cx="548640" cy="54864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0220" y="1993392"/>
            <a:ext cx="274320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79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concept-level learning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37560" y="1645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2554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0" name="Shape 7"/>
          <p:cNvSpPr/>
          <p:nvPr/>
        </p:nvSpPr>
        <p:spPr>
          <a:xfrm>
            <a:off x="4320540" y="1828800"/>
            <a:ext cx="548640" cy="54864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993392"/>
            <a:ext cx="274320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29000" y="2779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teaching, full oversight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645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7018020" y="1828800"/>
            <a:ext cx="548640" cy="54864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5180" y="19659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126480" y="2779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curriculum intelligence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732520" y="1645920"/>
            <a:ext cx="2514600" cy="1463040"/>
          </a:xfrm>
          <a:prstGeom prst="roundRect">
            <a:avLst>
              <a:gd name="adj" fmla="val 6250"/>
            </a:avLst>
          </a:prstGeom>
          <a:solidFill>
            <a:srgbClr val="12554E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20" name="Shape 15"/>
          <p:cNvSpPr/>
          <p:nvPr/>
        </p:nvSpPr>
        <p:spPr>
          <a:xfrm>
            <a:off x="9715500" y="1828800"/>
            <a:ext cx="548640" cy="548640"/>
          </a:xfrm>
          <a:prstGeom prst="ellipse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en-PK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2660" y="19659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23960" y="24688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823960" y="2779776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3E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academic decisions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25400">
            <a:solidFill>
              <a:srgbClr val="D8EAE7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Shape 19"/>
          <p:cNvSpPr/>
          <p:nvPr/>
        </p:nvSpPr>
        <p:spPr>
          <a:xfrm>
            <a:off x="740664" y="3895344"/>
            <a:ext cx="164592" cy="164592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0"/>
          <p:cNvSpPr/>
          <p:nvPr/>
        </p:nvSpPr>
        <p:spPr>
          <a:xfrm>
            <a:off x="82296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822960" y="4572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Completion &amp; AU Pilot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245864" y="3895344"/>
            <a:ext cx="164592" cy="164592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3"/>
          <p:cNvSpPr/>
          <p:nvPr/>
        </p:nvSpPr>
        <p:spPr>
          <a:xfrm>
            <a:off x="313944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3139440" y="4572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Pilot Expansion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7751064" y="3895344"/>
            <a:ext cx="164592" cy="164592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26"/>
          <p:cNvSpPr/>
          <p:nvPr/>
        </p:nvSpPr>
        <p:spPr>
          <a:xfrm>
            <a:off x="664464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700" dirty="0"/>
          </a:p>
        </p:txBody>
      </p:sp>
      <p:sp>
        <p:nvSpPr>
          <p:cNvPr id="33" name="Text 27"/>
          <p:cNvSpPr/>
          <p:nvPr/>
        </p:nvSpPr>
        <p:spPr>
          <a:xfrm>
            <a:off x="6644640" y="4572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Multi-University Deployment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11256264" y="3895344"/>
            <a:ext cx="164592" cy="164592"/>
          </a:xfrm>
          <a:prstGeom prst="ellipse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29"/>
          <p:cNvSpPr/>
          <p:nvPr/>
        </p:nvSpPr>
        <p:spPr>
          <a:xfrm>
            <a:off x="8961120" y="41605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700" dirty="0"/>
          </a:p>
        </p:txBody>
      </p:sp>
      <p:sp>
        <p:nvSpPr>
          <p:cNvPr id="36" name="Text 30"/>
          <p:cNvSpPr/>
          <p:nvPr/>
        </p:nvSpPr>
        <p:spPr>
          <a:xfrm>
            <a:off x="8961120" y="45720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3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LMS Integrations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6596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Q. Wang, Z. Mao, B. Wang and L. Guo, “Knowledge Graph Embedding: A Survey of Approaches and Applications,” IEEE TKDE, vol. 29, no. 12, 2017.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P. Woolf, Building Intelligent Interactive Tutors. Morgan Kaufmann, 2009.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F1F8F7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371600" y="416052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F. Doshi-Velez and B. Kim, “Towards A Rigorous Science of Interpretable Machine Learning,” arXiv:1702.08608, 2017.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16636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822960" y="5166360"/>
            <a:ext cx="457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5257800"/>
            <a:ext cx="9966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Kavitha Ganesan and L. Raj, “Educational Data Mining and Learning Analytics,” arXiv, June 2017.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021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48256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960120" y="1792224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ConceptIntel's workflow shows how users, AI modules, and course management work together seamlessly.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40080" y="3008376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960120" y="2752344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AI-generated guidance, and teacher supervision are fully integrated — not bolted together.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40080" y="3968496"/>
            <a:ext cx="100584" cy="100584"/>
          </a:xfrm>
          <a:prstGeom prst="ellipse">
            <a:avLst/>
          </a:prstGeom>
          <a:solidFill>
            <a:srgbClr val="0F6B6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960120" y="3712464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202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adaptive, concept-driven learning with a personalized path for every single student.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40080" y="507492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AF5F3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0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knowledge graphs to adaptive feedback — this is intelligence built into the platform, not bolted on top of 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ConceptIntel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2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640080" y="411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Team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034540" y="205740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20345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2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Mamoona Latif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231662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Content Upload · AI Content Generation · Notifications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62272" y="173736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5811012" y="205740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5811012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2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99432" y="3017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Laiba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99432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231627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90872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Mgmt · Knowledge Graph · Analytics · Gamification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38744" y="173736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17221F"/>
          </a:solidFill>
          <a:ln w="12700">
            <a:solidFill>
              <a:srgbClr val="24413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9587484" y="2057400"/>
            <a:ext cx="822960" cy="8229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9587484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2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MK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375904" y="3017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Kashif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75904" y="33375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Reg# 231568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67344" y="367588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7D8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· Supervision · Assignment Evaluation · Adaptive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48056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Sumaira Farid</a:t>
            </a:r>
            <a:r>
              <a:rPr lang="en-US" sz="1300" dirty="0">
                <a:solidFill>
                  <a:srgbClr val="8FB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Air University, Islamabad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91032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8FE6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Reimagining Higher Education through Knowledge Graphs and Artificial Intelligence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1861</Words>
  <Application>Microsoft Office PowerPoint</Application>
  <PresentationFormat>Custom</PresentationFormat>
  <Paragraphs>512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ConceptIntel — P@SHA ICT Awards 2026</dc:title>
  <dc:subject>PptxGenJS Presentation</dc:subject>
  <dc:creator>ConceptIntel Team</dc:creator>
  <cp:lastModifiedBy>231662_Mamoona .</cp:lastModifiedBy>
  <cp:revision>1</cp:revision>
  <dcterms:created xsi:type="dcterms:W3CDTF">2026-07-26T16:58:21Z</dcterms:created>
  <dcterms:modified xsi:type="dcterms:W3CDTF">2026-07-26T18:33:20Z</dcterms:modified>
</cp:coreProperties>
</file>